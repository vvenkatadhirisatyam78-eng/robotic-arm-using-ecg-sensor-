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3" r:id="rId6"/>
    <p:sldId id="267" r:id="rId7"/>
    <p:sldId id="260" r:id="rId8"/>
    <p:sldId id="261" r:id="rId9"/>
    <p:sldId id="262" r:id="rId10"/>
    <p:sldId id="263" r:id="rId11"/>
    <p:sldId id="264" r:id="rId12"/>
    <p:sldId id="265" r:id="rId13"/>
    <p:sldId id="266" r:id="rId14"/>
    <p:sldId id="269" r:id="rId15"/>
    <p:sldId id="270" r:id="rId16"/>
    <p:sldId id="271" r:id="rId17"/>
    <p:sldId id="272"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77"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C2251C4-4446-4A9F-86E8-71CB5B272A00}"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2251C4-4446-4A9F-86E8-71CB5B272A00}"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2251C4-4446-4A9F-86E8-71CB5B272A00}"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2251C4-4446-4A9F-86E8-71CB5B272A00}"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2251C4-4446-4A9F-86E8-71CB5B272A00}"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2251C4-4446-4A9F-86E8-71CB5B272A00}"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2251C4-4446-4A9F-86E8-71CB5B272A00}"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2251C4-4446-4A9F-86E8-71CB5B272A00}"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2251C4-4446-4A9F-86E8-71CB5B272A00}"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2251C4-4446-4A9F-86E8-71CB5B272A00}"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2251C4-4446-4A9F-86E8-71CB5B272A00}"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6BB37-0C47-4A1D-B5FD-6153CC2A565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2251C4-4446-4A9F-86E8-71CB5B272A00}" type="datetimeFigureOut">
              <a:rPr lang="en-US" smtClean="0"/>
              <a:t>3/30/2026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E6BB37-0C47-4A1D-B5FD-6153CC2A565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roboticskanti.com/ourresarch/hashtags/define" TargetMode="External"/><Relationship Id="rId2" Type="http://schemas.openxmlformats.org/officeDocument/2006/relationships/hyperlink" Target="https://www.roboticskanti.com/ourresarch/hashtags/include"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30830" y="606425"/>
            <a:ext cx="6529705" cy="398780"/>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ROBOTIC ARM BASED ON MUSCULAR CONTROL</a:t>
            </a:r>
          </a:p>
        </p:txBody>
      </p:sp>
      <p:pic>
        <p:nvPicPr>
          <p:cNvPr id="7" name="Picture 6"/>
          <p:cNvPicPr>
            <a:picLocks noChangeAspect="1" noChangeArrowheads="1"/>
          </p:cNvPicPr>
          <p:nvPr/>
        </p:nvPicPr>
        <p:blipFill>
          <a:blip r:embed="rId2" cstate="print"/>
          <a:srcRect/>
          <a:stretch>
            <a:fillRect/>
          </a:stretch>
        </p:blipFill>
        <p:spPr bwMode="auto">
          <a:xfrm>
            <a:off x="9605818" y="403420"/>
            <a:ext cx="2586182" cy="1117153"/>
          </a:xfrm>
          <a:prstGeom prst="rect">
            <a:avLst/>
          </a:prstGeom>
          <a:noFill/>
        </p:spPr>
      </p:pic>
      <p:sp>
        <p:nvSpPr>
          <p:cNvPr id="8" name="TextBox 7"/>
          <p:cNvSpPr txBox="1"/>
          <p:nvPr/>
        </p:nvSpPr>
        <p:spPr>
          <a:xfrm>
            <a:off x="4514226" y="1120967"/>
            <a:ext cx="251891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THEME:ROBOTICS</a:t>
            </a:r>
          </a:p>
        </p:txBody>
      </p:sp>
      <p:pic>
        <p:nvPicPr>
          <p:cNvPr id="9" name="Picture 8"/>
          <p:cNvPicPr>
            <a:picLocks noChangeAspect="1"/>
          </p:cNvPicPr>
          <p:nvPr/>
        </p:nvPicPr>
        <p:blipFill>
          <a:blip r:embed="rId3" cstate="print"/>
          <a:stretch>
            <a:fillRect/>
          </a:stretch>
        </p:blipFill>
        <p:spPr>
          <a:xfrm>
            <a:off x="10175009" y="1822510"/>
            <a:ext cx="1447800" cy="1447800"/>
          </a:xfrm>
          <a:prstGeom prst="rect">
            <a:avLst/>
          </a:prstGeom>
        </p:spPr>
      </p:pic>
      <p:sp>
        <p:nvSpPr>
          <p:cNvPr id="10" name="TextBox 9"/>
          <p:cNvSpPr txBox="1"/>
          <p:nvPr/>
        </p:nvSpPr>
        <p:spPr>
          <a:xfrm>
            <a:off x="1544127" y="2344469"/>
            <a:ext cx="4295955" cy="313932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By,</a:t>
            </a:r>
          </a:p>
          <a:p>
            <a:r>
              <a:rPr lang="en-US" sz="2000" dirty="0">
                <a:latin typeface="Times New Roman" panose="02020603050405020304" pitchFamily="18" charset="0"/>
                <a:cs typeface="Times New Roman" panose="02020603050405020304" pitchFamily="18" charset="0"/>
              </a:rPr>
              <a:t>SOEC G-(Batch No.2)</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P.Vishnusai            Vtu24998</a:t>
            </a:r>
          </a:p>
          <a:p>
            <a:r>
              <a:rPr lang="en-US" sz="2000" dirty="0">
                <a:latin typeface="Times New Roman" panose="02020603050405020304" pitchFamily="18" charset="0"/>
                <a:cs typeface="Times New Roman" panose="02020603050405020304" pitchFamily="18" charset="0"/>
              </a:rPr>
              <a:t>P.Tarun                   Vtu25134</a:t>
            </a:r>
          </a:p>
          <a:p>
            <a:r>
              <a:rPr lang="en-US" sz="2000" dirty="0">
                <a:latin typeface="Times New Roman" panose="02020603050405020304" pitchFamily="18" charset="0"/>
                <a:cs typeface="Times New Roman" panose="02020603050405020304" pitchFamily="18" charset="0"/>
              </a:rPr>
              <a:t>U.Prathap               Vtu26917</a:t>
            </a:r>
          </a:p>
          <a:p>
            <a:r>
              <a:rPr lang="en-US" sz="2000" dirty="0">
                <a:latin typeface="Times New Roman" panose="02020603050405020304" pitchFamily="18" charset="0"/>
                <a:cs typeface="Times New Roman" panose="02020603050405020304" pitchFamily="18" charset="0"/>
              </a:rPr>
              <a:t>K.Vijaykumar         Vtu24964</a:t>
            </a:r>
          </a:p>
          <a:p>
            <a:r>
              <a:rPr lang="en-US" sz="2000" dirty="0">
                <a:latin typeface="Times New Roman" panose="02020603050405020304" pitchFamily="18" charset="0"/>
                <a:cs typeface="Times New Roman" panose="02020603050405020304" pitchFamily="18" charset="0"/>
              </a:rPr>
              <a:t>T.Pavankumar         Vtu25035</a:t>
            </a:r>
          </a:p>
          <a:p>
            <a:r>
              <a:rPr lang="en-US" sz="2000" dirty="0">
                <a:latin typeface="Times New Roman" panose="02020603050405020304" pitchFamily="18" charset="0"/>
                <a:cs typeface="Times New Roman" panose="02020603050405020304" pitchFamily="18" charset="0"/>
              </a:rPr>
              <a:t>JVVV.Prasad           Vtu26895</a:t>
            </a:r>
          </a:p>
          <a:p>
            <a:endParaRPr lang="en-US"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2485390" y="5776595"/>
            <a:ext cx="7689850" cy="119888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Vel Tech Rangarajan Dr.Sangunthala R&amp;D Institute of </a:t>
            </a:r>
          </a:p>
          <a:p>
            <a:r>
              <a:rPr lang="en-US" sz="2400" b="1" dirty="0">
                <a:latin typeface="Times New Roman" panose="02020603050405020304" pitchFamily="18" charset="0"/>
                <a:cs typeface="Times New Roman" panose="02020603050405020304" pitchFamily="18" charset="0"/>
              </a:rPr>
              <a:t>                                Science &amp; Technology</a:t>
            </a:r>
          </a:p>
          <a:p>
            <a:r>
              <a:rPr lang="en-US" sz="2400" b="1" dirty="0">
                <a:latin typeface="Times New Roman" panose="02020603050405020304" pitchFamily="18" charset="0"/>
                <a:cs typeface="Times New Roman" panose="02020603050405020304" pitchFamily="18" charset="0"/>
              </a:rPr>
              <a:t>      </a:t>
            </a:r>
          </a:p>
        </p:txBody>
      </p:sp>
      <p:sp>
        <p:nvSpPr>
          <p:cNvPr id="13" name="TextBox 12"/>
          <p:cNvSpPr txBox="1"/>
          <p:nvPr/>
        </p:nvSpPr>
        <p:spPr>
          <a:xfrm>
            <a:off x="9112818" y="4037162"/>
            <a:ext cx="2852020" cy="1477328"/>
          </a:xfrm>
          <a:prstGeom prst="rect">
            <a:avLst/>
          </a:prstGeom>
          <a:noFill/>
        </p:spPr>
        <p:txBody>
          <a:bodyPr wrap="square" rtlCol="0">
            <a:spAutoFit/>
          </a:bodyPr>
          <a:lstStyle/>
          <a:p>
            <a:r>
              <a:rPr lang="en-US" dirty="0"/>
              <a:t>Guided by,</a:t>
            </a:r>
          </a:p>
          <a:p>
            <a:r>
              <a:rPr lang="en-US" dirty="0"/>
              <a:t>Dr G.Padmalaya</a:t>
            </a:r>
          </a:p>
          <a:p>
            <a:r>
              <a:rPr lang="en-US" dirty="0"/>
              <a:t>Assistant professor/ECE</a:t>
            </a:r>
          </a:p>
          <a:p>
            <a:r>
              <a:rPr lang="en-US" dirty="0"/>
              <a:t>Dr S.Jebarose juliyana</a:t>
            </a:r>
          </a:p>
          <a:p>
            <a:r>
              <a:rPr lang="en-US" dirty="0"/>
              <a:t>Assistant professor/MECH</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827583" y="502215"/>
            <a:ext cx="9204937" cy="987833"/>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700" b="1" dirty="0">
                <a:latin typeface="Times New Roman" panose="02020603050405020304" pitchFamily="18" charset="0"/>
                <a:cs typeface="Times New Roman" panose="02020603050405020304" pitchFamily="18" charset="0"/>
              </a:rPr>
              <a:t>        LIST OF THEMES:  </a:t>
            </a:r>
            <a:br>
              <a:rPr lang="en-US" sz="5400" b="1" dirty="0">
                <a:latin typeface="Times New Roman" panose="02020603050405020304" pitchFamily="18" charset="0"/>
                <a:cs typeface="Times New Roman" panose="02020603050405020304" pitchFamily="18" charset="0"/>
              </a:rPr>
            </a:br>
            <a:r>
              <a:rPr lang="en-US" sz="54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a:t>
            </a:r>
            <a:endParaRPr lang="en-US" sz="2000" dirty="0"/>
          </a:p>
        </p:txBody>
      </p:sp>
      <p:sp>
        <p:nvSpPr>
          <p:cNvPr id="5" name="Pentagon 12"/>
          <p:cNvSpPr/>
          <p:nvPr/>
        </p:nvSpPr>
        <p:spPr>
          <a:xfrm>
            <a:off x="1492184" y="1633360"/>
            <a:ext cx="1016941"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anose="02020603050405020304" pitchFamily="18" charset="0"/>
                <a:cs typeface="Times New Roman" panose="02020603050405020304" pitchFamily="18" charset="0"/>
              </a:rPr>
              <a:t>T-1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6" name="Pentagon 13"/>
          <p:cNvSpPr/>
          <p:nvPr/>
        </p:nvSpPr>
        <p:spPr>
          <a:xfrm>
            <a:off x="2743206" y="1633360"/>
            <a:ext cx="3657588"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tx1"/>
                </a:solidFill>
                <a:latin typeface="Times New Roman" panose="02020603050405020304" pitchFamily="18" charset="0"/>
                <a:cs typeface="Times New Roman" panose="02020603050405020304" pitchFamily="18" charset="0"/>
              </a:rPr>
              <a:t>E</a:t>
            </a:r>
            <a:r>
              <a:rPr lang="en-IN" sz="2200" dirty="0">
                <a:solidFill>
                  <a:schemeClr val="tx1"/>
                </a:solidFill>
                <a:latin typeface="Times New Roman" panose="02020603050405020304" pitchFamily="18" charset="0"/>
                <a:cs typeface="Times New Roman" panose="02020603050405020304" pitchFamily="18" charset="0"/>
              </a:rPr>
              <a:t>NERGY CONSERVATION</a:t>
            </a:r>
          </a:p>
        </p:txBody>
      </p:sp>
      <p:sp>
        <p:nvSpPr>
          <p:cNvPr id="7" name="Pentagon 16"/>
          <p:cNvSpPr/>
          <p:nvPr/>
        </p:nvSpPr>
        <p:spPr>
          <a:xfrm>
            <a:off x="1528760" y="2204864"/>
            <a:ext cx="1016941" cy="428628"/>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anose="02020603050405020304" pitchFamily="18" charset="0"/>
                <a:cs typeface="Times New Roman" panose="02020603050405020304" pitchFamily="18" charset="0"/>
              </a:rPr>
              <a:t>T-2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8" name="Pentagon 17"/>
          <p:cNvSpPr/>
          <p:nvPr/>
        </p:nvSpPr>
        <p:spPr>
          <a:xfrm>
            <a:off x="2743206" y="2204864"/>
            <a:ext cx="3657588" cy="428628"/>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altLang="en-US" sz="2200" dirty="0">
                <a:solidFill>
                  <a:schemeClr val="tx1"/>
                </a:solidFill>
                <a:latin typeface="Times New Roman" panose="02020603050405020304" pitchFamily="18" charset="0"/>
                <a:cs typeface="Times New Roman" panose="02020603050405020304" pitchFamily="18" charset="0"/>
              </a:rPr>
              <a:t>ROBOTICS</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9" name="Pentagon 19"/>
          <p:cNvSpPr/>
          <p:nvPr/>
        </p:nvSpPr>
        <p:spPr>
          <a:xfrm>
            <a:off x="1528760" y="2776368"/>
            <a:ext cx="1016941"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anose="02020603050405020304" pitchFamily="18" charset="0"/>
                <a:cs typeface="Times New Roman" panose="02020603050405020304" pitchFamily="18" charset="0"/>
              </a:rPr>
              <a:t>T-3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10" name="Pentagon 20"/>
          <p:cNvSpPr/>
          <p:nvPr/>
        </p:nvSpPr>
        <p:spPr>
          <a:xfrm>
            <a:off x="2743206" y="2776368"/>
            <a:ext cx="3657588"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20000"/>
              </a:lnSpc>
              <a:buNone/>
            </a:pPr>
            <a:r>
              <a:rPr lang="en-US" altLang="en-US" sz="2200" dirty="0">
                <a:solidFill>
                  <a:schemeClr val="tx1"/>
                </a:solidFill>
                <a:latin typeface="Times New Roman" panose="02020603050405020304" pitchFamily="18" charset="0"/>
                <a:cs typeface="Times New Roman" panose="02020603050405020304" pitchFamily="18" charset="0"/>
              </a:rPr>
              <a:t>P</a:t>
            </a:r>
            <a:r>
              <a:rPr lang="en-IN" altLang="en-US" sz="2200" dirty="0">
                <a:solidFill>
                  <a:schemeClr val="tx1"/>
                </a:solidFill>
                <a:latin typeface="Times New Roman" panose="02020603050405020304" pitchFamily="18" charset="0"/>
                <a:cs typeface="Times New Roman" panose="02020603050405020304" pitchFamily="18" charset="0"/>
              </a:rPr>
              <a:t>UBLIC SAFETY</a:t>
            </a:r>
          </a:p>
        </p:txBody>
      </p:sp>
      <p:sp>
        <p:nvSpPr>
          <p:cNvPr id="11" name="Pentagon 22"/>
          <p:cNvSpPr/>
          <p:nvPr/>
        </p:nvSpPr>
        <p:spPr>
          <a:xfrm>
            <a:off x="1528760" y="3347872"/>
            <a:ext cx="1016941" cy="428628"/>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anose="02020603050405020304" pitchFamily="18" charset="0"/>
                <a:cs typeface="Times New Roman" panose="02020603050405020304" pitchFamily="18" charset="0"/>
              </a:rPr>
              <a:t>T-4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12" name="Pentagon 23"/>
          <p:cNvSpPr/>
          <p:nvPr/>
        </p:nvSpPr>
        <p:spPr>
          <a:xfrm>
            <a:off x="2743206" y="3347872"/>
            <a:ext cx="3657588" cy="428628"/>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20000"/>
              </a:lnSpc>
            </a:pPr>
            <a:r>
              <a:rPr lang="en-US" altLang="en-US" sz="2000" dirty="0">
                <a:solidFill>
                  <a:schemeClr val="tx1"/>
                </a:solidFill>
                <a:latin typeface="Times New Roman" panose="02020603050405020304" pitchFamily="18" charset="0"/>
                <a:cs typeface="Times New Roman" panose="02020603050405020304" pitchFamily="18" charset="0"/>
              </a:rPr>
              <a:t>A</a:t>
            </a:r>
            <a:r>
              <a:rPr lang="en-IN" altLang="en-US" sz="2000" dirty="0">
                <a:solidFill>
                  <a:schemeClr val="tx1"/>
                </a:solidFill>
                <a:latin typeface="Times New Roman" panose="02020603050405020304" pitchFamily="18" charset="0"/>
                <a:cs typeface="Times New Roman" panose="02020603050405020304" pitchFamily="18" charset="0"/>
              </a:rPr>
              <a:t>GRICULTURE</a:t>
            </a:r>
          </a:p>
        </p:txBody>
      </p:sp>
      <p:sp>
        <p:nvSpPr>
          <p:cNvPr id="13" name="Pentagon 25"/>
          <p:cNvSpPr/>
          <p:nvPr/>
        </p:nvSpPr>
        <p:spPr>
          <a:xfrm>
            <a:off x="1528760" y="3919376"/>
            <a:ext cx="1016941"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anose="02020603050405020304" pitchFamily="18" charset="0"/>
                <a:cs typeface="Times New Roman" panose="02020603050405020304" pitchFamily="18" charset="0"/>
              </a:rPr>
              <a:t>T-5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14" name="Pentagon 26"/>
          <p:cNvSpPr/>
          <p:nvPr/>
        </p:nvSpPr>
        <p:spPr>
          <a:xfrm>
            <a:off x="2743206" y="3919376"/>
            <a:ext cx="5169756"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20000"/>
              </a:lnSpc>
            </a:pPr>
            <a:r>
              <a:rPr lang="en-US" altLang="en-US" sz="1700" dirty="0">
                <a:solidFill>
                  <a:schemeClr val="tx1"/>
                </a:solidFill>
                <a:latin typeface="Times New Roman" panose="02020603050405020304" pitchFamily="18" charset="0"/>
                <a:cs typeface="Times New Roman" panose="02020603050405020304" pitchFamily="18" charset="0"/>
              </a:rPr>
              <a:t>INDUSTRY, INNOVATION AND INFRASTRUTURE</a:t>
            </a:r>
            <a:endParaRPr lang="en-IN" altLang="en-US" sz="1700" dirty="0">
              <a:solidFill>
                <a:schemeClr val="tx1"/>
              </a:solidFill>
              <a:latin typeface="Times New Roman" panose="02020603050405020304" pitchFamily="18" charset="0"/>
              <a:cs typeface="Times New Roman" panose="02020603050405020304" pitchFamily="18" charset="0"/>
            </a:endParaRPr>
          </a:p>
        </p:txBody>
      </p:sp>
      <p:sp>
        <p:nvSpPr>
          <p:cNvPr id="15" name="Pentagon 28"/>
          <p:cNvSpPr/>
          <p:nvPr/>
        </p:nvSpPr>
        <p:spPr>
          <a:xfrm>
            <a:off x="1528760" y="4490880"/>
            <a:ext cx="1016941" cy="428628"/>
          </a:xfrm>
          <a:prstGeom prst="homePlat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anose="02020603050405020304" pitchFamily="18" charset="0"/>
                <a:cs typeface="Times New Roman" panose="02020603050405020304" pitchFamily="18" charset="0"/>
              </a:rPr>
              <a:t>T-6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16" name="Pentagon 29"/>
          <p:cNvSpPr/>
          <p:nvPr/>
        </p:nvSpPr>
        <p:spPr>
          <a:xfrm>
            <a:off x="2743206" y="4490880"/>
            <a:ext cx="5169756" cy="428628"/>
          </a:xfrm>
          <a:prstGeom prst="homePlat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20000"/>
              </a:lnSpc>
              <a:buNone/>
            </a:pPr>
            <a:r>
              <a:rPr lang="en-US" altLang="en-US" sz="2200" dirty="0">
                <a:solidFill>
                  <a:schemeClr val="tx1"/>
                </a:solidFill>
                <a:latin typeface="Times New Roman" panose="02020603050405020304" pitchFamily="18" charset="0"/>
                <a:cs typeface="Times New Roman" panose="02020603050405020304" pitchFamily="18" charset="0"/>
              </a:rPr>
              <a:t>CLEAN WATER AND SANITATION</a:t>
            </a:r>
            <a:endParaRPr lang="en-IN" altLang="en-US" sz="2200" dirty="0">
              <a:solidFill>
                <a:schemeClr val="tx1"/>
              </a:solidFill>
              <a:latin typeface="Times New Roman" panose="02020603050405020304" pitchFamily="18" charset="0"/>
              <a:cs typeface="Times New Roman" panose="02020603050405020304" pitchFamily="18" charset="0"/>
            </a:endParaRPr>
          </a:p>
        </p:txBody>
      </p:sp>
      <p:sp>
        <p:nvSpPr>
          <p:cNvPr id="17" name="Pentagon 31"/>
          <p:cNvSpPr/>
          <p:nvPr/>
        </p:nvSpPr>
        <p:spPr>
          <a:xfrm>
            <a:off x="1528760" y="5062384"/>
            <a:ext cx="1016941"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anose="02020603050405020304" pitchFamily="18" charset="0"/>
                <a:cs typeface="Times New Roman" panose="02020603050405020304" pitchFamily="18" charset="0"/>
              </a:rPr>
              <a:t>T-7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18" name="Pentagon 32"/>
          <p:cNvSpPr/>
          <p:nvPr/>
        </p:nvSpPr>
        <p:spPr>
          <a:xfrm>
            <a:off x="2743206" y="5062384"/>
            <a:ext cx="5169756"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dirty="0">
                <a:solidFill>
                  <a:schemeClr val="tx1"/>
                </a:solidFill>
                <a:latin typeface="Times New Roman" panose="02020603050405020304" pitchFamily="18" charset="0"/>
                <a:cs typeface="Times New Roman" panose="02020603050405020304" pitchFamily="18" charset="0"/>
              </a:rPr>
              <a:t>SUSTAINABLE CITIES AND COMMUNITIES</a:t>
            </a:r>
            <a:endParaRPr lang="en-IN" altLang="en-US" dirty="0">
              <a:solidFill>
                <a:schemeClr val="tx1"/>
              </a:solidFill>
              <a:latin typeface="Times New Roman" panose="02020603050405020304" pitchFamily="18" charset="0"/>
              <a:cs typeface="Times New Roman" panose="02020603050405020304" pitchFamily="18" charset="0"/>
            </a:endParaRPr>
          </a:p>
        </p:txBody>
      </p:sp>
      <p:sp>
        <p:nvSpPr>
          <p:cNvPr id="19" name="Pentagon 34"/>
          <p:cNvSpPr/>
          <p:nvPr/>
        </p:nvSpPr>
        <p:spPr>
          <a:xfrm>
            <a:off x="1528760" y="5633888"/>
            <a:ext cx="1016941" cy="428628"/>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anose="02020603050405020304" pitchFamily="18" charset="0"/>
                <a:cs typeface="Times New Roman" panose="02020603050405020304" pitchFamily="18" charset="0"/>
              </a:rPr>
              <a:t>T-8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20" name="Pentagon 35"/>
          <p:cNvSpPr/>
          <p:nvPr/>
        </p:nvSpPr>
        <p:spPr>
          <a:xfrm>
            <a:off x="2743206" y="5633888"/>
            <a:ext cx="5169756" cy="428628"/>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10000"/>
              </a:lnSpc>
              <a:buNone/>
            </a:pPr>
            <a:r>
              <a:rPr lang="en-IN" altLang="en-US" sz="2200" dirty="0">
                <a:solidFill>
                  <a:schemeClr val="tx1"/>
                </a:solidFill>
                <a:latin typeface="Times New Roman" panose="02020603050405020304" pitchFamily="18" charset="0"/>
                <a:cs typeface="Times New Roman" panose="02020603050405020304" pitchFamily="18" charset="0"/>
              </a:rPr>
              <a:t>AFFORDABLE AND CLEAN ENERGY</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SELECTED THEME: ROBOTICS</a:t>
            </a:r>
          </a:p>
        </p:txBody>
      </p:sp>
      <p:sp>
        <p:nvSpPr>
          <p:cNvPr id="3" name="Content Placeholder 2"/>
          <p:cNvSpPr>
            <a:spLocks noGrp="1"/>
          </p:cNvSpPr>
          <p:nvPr>
            <p:ph idx="1"/>
          </p:nvPr>
        </p:nvSpPr>
        <p:spPr>
          <a:xfrm>
            <a:off x="838200" y="1825625"/>
            <a:ext cx="10515600" cy="3600390"/>
          </a:xfrm>
        </p:spPr>
        <p:txBody>
          <a:bodyPr>
            <a:noAutofit/>
          </a:bodyPr>
          <a:lstStyle/>
          <a:p>
            <a:r>
              <a:rPr lang="en-US" sz="2000" b="1" u="sng" dirty="0">
                <a:latin typeface="Times New Roman" panose="02020603050405020304" pitchFamily="18" charset="0"/>
                <a:cs typeface="Times New Roman" panose="02020603050405020304" pitchFamily="18" charset="0"/>
              </a:rPr>
              <a:t>EXPLANATION:</a:t>
            </a:r>
          </a:p>
          <a:p>
            <a:r>
              <a:rPr lang="en-US" sz="2000" dirty="0">
                <a:latin typeface="Times New Roman" panose="02020603050405020304" pitchFamily="18" charset="0"/>
                <a:cs typeface="Times New Roman" panose="02020603050405020304" pitchFamily="18" charset="0"/>
              </a:rPr>
              <a:t>ROBOTICS is a branch of technology that deals with the design,construction,operation,and application of robots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r>
              <a:rPr lang="en-US" sz="2000" i="0" dirty="0">
                <a:effectLst/>
                <a:latin typeface="Times New Roman" panose="02020603050405020304" pitchFamily="18" charset="0"/>
                <a:cs typeface="Times New Roman" panose="02020603050405020304" pitchFamily="18" charset="0"/>
              </a:rPr>
              <a:t>Robots are machines capable of carrying out a complex series of actions automatically, either programmed by a computer or using artificial intelligence.</a:t>
            </a:r>
          </a:p>
          <a:p>
            <a:endParaRPr lang="en-US" sz="2000" dirty="0">
              <a:latin typeface="Times New Roman" panose="02020603050405020304" pitchFamily="18" charset="0"/>
              <a:cs typeface="Times New Roman" panose="02020603050405020304" pitchFamily="18" charset="0"/>
            </a:endParaRPr>
          </a:p>
          <a:p>
            <a:pPr marL="0" indent="0">
              <a:buNone/>
            </a:pPr>
            <a:endParaRPr lang="en-US" sz="2000" i="0" dirty="0">
              <a:effectLst/>
              <a:latin typeface="Times New Roman" panose="02020603050405020304" pitchFamily="18" charset="0"/>
              <a:cs typeface="Times New Roman" panose="02020603050405020304" pitchFamily="18" charset="0"/>
            </a:endParaRPr>
          </a:p>
          <a:p>
            <a:r>
              <a:rPr lang="en-US" sz="2000" i="0" dirty="0">
                <a:effectLst/>
                <a:latin typeface="Times New Roman" panose="02020603050405020304" pitchFamily="18" charset="0"/>
                <a:cs typeface="Times New Roman" panose="02020603050405020304" pitchFamily="18" charset="0"/>
              </a:rPr>
              <a:t>Robotics is a sub-domain of engineering and science that includes mechanical engineering, electrical engineering, computer science, and others. </a:t>
            </a:r>
          </a:p>
          <a:p>
            <a:endParaRPr lang="en-US" sz="2000" i="0" dirty="0">
              <a:effectLst/>
              <a:latin typeface="Times New Roman" panose="02020603050405020304" pitchFamily="18" charset="0"/>
              <a:cs typeface="Times New Roman" panose="02020603050405020304" pitchFamily="18" charset="0"/>
            </a:endParaRPr>
          </a:p>
        </p:txBody>
      </p: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2485"/>
            <a:ext cx="10515600" cy="1325563"/>
          </a:xfrm>
        </p:spPr>
        <p:txBody>
          <a:bodyPr/>
          <a:lstStyle/>
          <a:p>
            <a:r>
              <a:rPr lang="en-US" sz="2400" b="1" dirty="0">
                <a:latin typeface="Times New Roman" panose="02020603050405020304" pitchFamily="18" charset="0"/>
                <a:cs typeface="Times New Roman" panose="02020603050405020304" pitchFamily="18" charset="0"/>
              </a:rPr>
              <a:t>RELATION TO PROJECT</a:t>
            </a:r>
          </a:p>
        </p:txBody>
      </p:sp>
      <p:sp>
        <p:nvSpPr>
          <p:cNvPr id="3" name="Content Placeholder 2"/>
          <p:cNvSpPr>
            <a:spLocks noGrp="1"/>
          </p:cNvSpPr>
          <p:nvPr>
            <p:ph idx="1"/>
          </p:nvPr>
        </p:nvSpPr>
        <p:spPr>
          <a:xfrm>
            <a:off x="838200" y="2061857"/>
            <a:ext cx="10515600" cy="5309857"/>
          </a:xfrm>
        </p:spPr>
        <p:txBody>
          <a:bodyPr>
            <a:normAutofit/>
          </a:bodyPr>
          <a:lstStyle/>
          <a:p>
            <a:r>
              <a:rPr lang="en-US" sz="2000" dirty="0">
                <a:latin typeface="Times New Roman" panose="02020603050405020304" pitchFamily="18" charset="0"/>
                <a:cs typeface="Times New Roman" panose="02020603050405020304" pitchFamily="18" charset="0"/>
              </a:rPr>
              <a:t>Project name is </a:t>
            </a:r>
            <a:r>
              <a:rPr lang="en-US" sz="2000" dirty="0">
                <a:solidFill>
                  <a:srgbClr val="FF0000"/>
                </a:solidFill>
                <a:latin typeface="Times New Roman" panose="02020603050405020304" pitchFamily="18" charset="0"/>
                <a:cs typeface="Times New Roman" panose="02020603050405020304" pitchFamily="18" charset="0"/>
              </a:rPr>
              <a:t>Robotic arm </a:t>
            </a:r>
            <a:r>
              <a:rPr lang="en-US" sz="2000" dirty="0">
                <a:latin typeface="Times New Roman" panose="02020603050405020304" pitchFamily="18" charset="0"/>
                <a:cs typeface="Times New Roman" panose="02020603050405020304" pitchFamily="18" charset="0"/>
              </a:rPr>
              <a:t>based on muscular movement .this project involve</a:t>
            </a:r>
          </a:p>
          <a:p>
            <a:pPr marL="0" indent="0">
              <a:buNone/>
            </a:pPr>
            <a:r>
              <a:rPr lang="en-US" sz="2000" dirty="0">
                <a:latin typeface="Times New Roman" panose="02020603050405020304" pitchFamily="18" charset="0"/>
                <a:cs typeface="Times New Roman" panose="02020603050405020304" pitchFamily="18" charset="0"/>
              </a:rPr>
              <a:t>construction,desgin,programming,circuits.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Our project  main theme is to make affordable robotic arm for handicapped persons.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Project mainly involve three major streams computer science, electrical engineering,mechanical engineering.</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Going the Anatomy project require several components they are: MG995servomotor,PCB,16MHZ,</a:t>
            </a:r>
          </a:p>
          <a:p>
            <a:pPr marL="0" indent="0">
              <a:buNone/>
            </a:pPr>
            <a:r>
              <a:rPr lang="en-US" sz="2000" dirty="0">
                <a:latin typeface="Times New Roman" panose="02020603050405020304" pitchFamily="18" charset="0"/>
                <a:cs typeface="Times New Roman" panose="02020603050405020304" pitchFamily="18" charset="0"/>
              </a:rPr>
              <a:t>10K resistor,22pf capacitors, IC base ,AD8232ECG sensor, ATMEGA328, ECG cable</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5" name="Picture 4" descr="A screenshot of a computer screen&#10;&#10;Description automatically generated"/>
          <p:cNvPicPr>
            <a:picLocks noChangeAspect="1"/>
          </p:cNvPicPr>
          <p:nvPr/>
        </p:nvPicPr>
        <p:blipFill rotWithShape="1">
          <a:blip r:embed="rId2" cstate="print">
            <a:extLst>
              <a:ext uri="{28A0092B-C50C-407E-A947-70E740481C1C}">
                <a14:useLocalDpi xmlns:a14="http://schemas.microsoft.com/office/drawing/2010/main" val="0"/>
              </a:ext>
            </a:extLst>
          </a:blip>
          <a:srcRect l="16332" t="13115" r="31803" b="49421"/>
          <a:stretch>
            <a:fillRect/>
          </a:stretch>
        </p:blipFill>
        <p:spPr>
          <a:xfrm>
            <a:off x="8184332" y="271780"/>
            <a:ext cx="3603279" cy="154814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4) edited"/>
          <p:cNvPicPr>
            <a:picLocks noChangeAspect="1"/>
          </p:cNvPicPr>
          <p:nvPr/>
        </p:nvPicPr>
        <p:blipFill>
          <a:blip r:embed="rId2"/>
          <a:srcRect l="1208" b="1553"/>
          <a:stretch>
            <a:fillRect/>
          </a:stretch>
        </p:blipFill>
        <p:spPr>
          <a:xfrm>
            <a:off x="2428875" y="914400"/>
            <a:ext cx="7424420" cy="4951095"/>
          </a:xfrm>
          <a:prstGeom prst="rect">
            <a:avLst/>
          </a:prstGeom>
        </p:spPr>
      </p:pic>
      <p:sp>
        <p:nvSpPr>
          <p:cNvPr id="4" name="Text Box 3"/>
          <p:cNvSpPr txBox="1"/>
          <p:nvPr/>
        </p:nvSpPr>
        <p:spPr>
          <a:xfrm>
            <a:off x="1403350" y="387985"/>
            <a:ext cx="2935605" cy="460375"/>
          </a:xfrm>
          <a:prstGeom prst="rect">
            <a:avLst/>
          </a:prstGeom>
          <a:noFill/>
        </p:spPr>
        <p:txBody>
          <a:bodyPr wrap="none" rtlCol="0">
            <a:spAutoFit/>
          </a:bodyPr>
          <a:lstStyle/>
          <a:p>
            <a:r>
              <a:rPr lang="en-US" sz="2400">
                <a:latin typeface="Times New Roman" panose="02020603050405020304" pitchFamily="18" charset="0"/>
                <a:cs typeface="Times New Roman" panose="02020603050405020304" pitchFamily="18" charset="0"/>
              </a:rPr>
              <a:t>BLOCK DIAGRAM:-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9256" y="253498"/>
            <a:ext cx="4273236" cy="101473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DIAGRAM / DESGIN:-</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4" name="Picture 3" descr="A screenshot of a computer&#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t="6018" r="907" b="7906"/>
          <a:stretch>
            <a:fillRect/>
          </a:stretch>
        </p:blipFill>
        <p:spPr>
          <a:xfrm>
            <a:off x="416459" y="869133"/>
            <a:ext cx="11516008" cy="550450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COMPONENTS:-</a:t>
            </a:r>
          </a:p>
        </p:txBody>
      </p:sp>
      <p:sp>
        <p:nvSpPr>
          <p:cNvPr id="3" name="Content Placeholder 2"/>
          <p:cNvSpPr>
            <a:spLocks noGrp="1"/>
          </p:cNvSpPr>
          <p:nvPr>
            <p:ph idx="1"/>
          </p:nvPr>
        </p:nvSpPr>
        <p:spPr>
          <a:xfrm>
            <a:off x="467008" y="1798465"/>
            <a:ext cx="11519780" cy="4351338"/>
          </a:xfrm>
        </p:spPr>
        <p:txBody>
          <a:bodyPr>
            <a:normAutofit/>
          </a:bodyPr>
          <a:lstStyle/>
          <a:p>
            <a:r>
              <a:rPr lang="en-US" sz="2000" dirty="0">
                <a:latin typeface="Times New Roman" panose="02020603050405020304" pitchFamily="18" charset="0"/>
                <a:cs typeface="Times New Roman" panose="02020603050405020304" pitchFamily="18" charset="0"/>
              </a:rPr>
              <a:t>MG995SERVOMOTOR                 10K RESISTOR                   22pF CAPACITOR           IC BASE            </a:t>
            </a:r>
          </a:p>
          <a:p>
            <a:pPr marL="0" indent="0">
              <a:buNone/>
            </a:pPr>
            <a:r>
              <a:rPr lang="en-US" sz="2000" dirty="0"/>
              <a:t>                                                                                                                       </a:t>
            </a:r>
          </a:p>
        </p:txBody>
      </p:sp>
      <p:pic>
        <p:nvPicPr>
          <p:cNvPr id="5" name="Picture 4" descr="A small black electronic device"/>
          <p:cNvPicPr>
            <a:picLocks noChangeAspect="1"/>
          </p:cNvPicPr>
          <p:nvPr/>
        </p:nvPicPr>
        <p:blipFill rotWithShape="1">
          <a:blip r:embed="rId2" cstate="print">
            <a:extLst>
              <a:ext uri="{28A0092B-C50C-407E-A947-70E740481C1C}">
                <a14:useLocalDpi xmlns:a14="http://schemas.microsoft.com/office/drawing/2010/main" val="0"/>
              </a:ext>
            </a:extLst>
          </a:blip>
          <a:srcRect l="2068" t="894" r="1733" b="5499"/>
          <a:stretch>
            <a:fillRect/>
          </a:stretch>
        </p:blipFill>
        <p:spPr>
          <a:xfrm>
            <a:off x="1113575" y="2353901"/>
            <a:ext cx="2390115" cy="2842788"/>
          </a:xfrm>
          <a:prstGeom prst="rect">
            <a:avLst/>
          </a:prstGeom>
        </p:spPr>
      </p:pic>
      <p:pic>
        <p:nvPicPr>
          <p:cNvPr id="8" name="Picture 2" descr="10K 0.25W Metal Film Resistor (10K 1/4W MFR Resistor) - SRK ELECTRON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3402" y="2089087"/>
            <a:ext cx="2706986" cy="267982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close-up of a capacitor&#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3894" y="2353901"/>
            <a:ext cx="2143125" cy="2143125"/>
          </a:xfrm>
          <a:prstGeom prst="rect">
            <a:avLst/>
          </a:prstGeom>
        </p:spPr>
      </p:pic>
      <p:pic>
        <p:nvPicPr>
          <p:cNvPr id="13" name="Picture 12" descr="A black rectangular object with small holes&#10;&#10;Description automatically generated with medium confidenc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16323" y="2353901"/>
            <a:ext cx="1905000" cy="21145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AD8232 ECG SENSOR      		ATMEGA328 		 	ECG CABLE</a:t>
            </a:r>
          </a:p>
        </p:txBody>
      </p:sp>
      <p:pic>
        <p:nvPicPr>
          <p:cNvPr id="5" name="Picture 4" descr="A red circuit board with a black connecto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331" y="2752253"/>
            <a:ext cx="3503691" cy="2732072"/>
          </a:xfrm>
          <a:prstGeom prst="rect">
            <a:avLst/>
          </a:prstGeom>
        </p:spPr>
      </p:pic>
      <p:pic>
        <p:nvPicPr>
          <p:cNvPr id="7" name="Picture 6" descr="A black and white microchip"/>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4960" y="3204927"/>
            <a:ext cx="2343150" cy="1634951"/>
          </a:xfrm>
          <a:prstGeom prst="rect">
            <a:avLst/>
          </a:prstGeom>
        </p:spPr>
      </p:pic>
      <p:pic>
        <p:nvPicPr>
          <p:cNvPr id="9" name="Picture 8" descr="A wire with three plug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9762" y="2706278"/>
            <a:ext cx="2133600" cy="2133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WORKING</a:t>
            </a:r>
          </a:p>
        </p:txBody>
      </p:sp>
      <p:sp>
        <p:nvSpPr>
          <p:cNvPr id="3" name="Content Placeholder 2"/>
          <p:cNvSpPr>
            <a:spLocks noGrp="1"/>
          </p:cNvSpPr>
          <p:nvPr>
            <p:ph idx="1"/>
          </p:nvPr>
        </p:nvSpPr>
        <p:spPr>
          <a:xfrm>
            <a:off x="1059254" y="1825625"/>
            <a:ext cx="10294545" cy="4351338"/>
          </a:xfrm>
        </p:spPr>
        <p:txBody>
          <a:bodyPr/>
          <a:lstStyle/>
          <a:p>
            <a:r>
              <a:rPr lang="en-US" sz="2400" b="1" dirty="0">
                <a:latin typeface="Times New Roman" panose="02020603050405020304" pitchFamily="18" charset="0"/>
                <a:cs typeface="Times New Roman" panose="02020603050405020304" pitchFamily="18" charset="0"/>
              </a:rPr>
              <a:t>MG995SERVOMOTOR</a:t>
            </a:r>
          </a:p>
          <a:p>
            <a:pPr marL="0" indent="0">
              <a:buNone/>
            </a:pPr>
            <a:r>
              <a:rPr lang="en-US" sz="2000" b="0" i="0" dirty="0">
                <a:effectLst/>
                <a:latin typeface="Times New Roman" panose="02020603050405020304" pitchFamily="18" charset="0"/>
                <a:cs typeface="Times New Roman" panose="02020603050405020304" pitchFamily="18" charset="0"/>
              </a:rPr>
              <a:t>MG995 Metal Gear Servo Motor is a high-speed standard servo can rotate approximately 180 degrees (60 in each direction) used for airplane, helicopter, RC-cars and many RC model. Provides 10kg/cm at 4.8V, and 12kgcm at 6V. It is a Digital Servo Motor which receives and processes PWM signal faster and better.</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4" name="Picture 3" descr="A small black electronic device"/>
          <p:cNvPicPr>
            <a:picLocks noChangeAspect="1"/>
          </p:cNvPicPr>
          <p:nvPr/>
        </p:nvPicPr>
        <p:blipFill rotWithShape="1">
          <a:blip r:embed="rId2" cstate="print">
            <a:extLst>
              <a:ext uri="{28A0092B-C50C-407E-A947-70E740481C1C}">
                <a14:useLocalDpi xmlns:a14="http://schemas.microsoft.com/office/drawing/2010/main" val="0"/>
              </a:ext>
            </a:extLst>
          </a:blip>
          <a:srcRect l="2068" t="894" r="1733" b="5499"/>
          <a:stretch>
            <a:fillRect/>
          </a:stretch>
        </p:blipFill>
        <p:spPr>
          <a:xfrm>
            <a:off x="4901143" y="3821430"/>
            <a:ext cx="2390115" cy="19487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09506" y="715992"/>
            <a:ext cx="8037640" cy="289179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AD8232ECG SENSOR</a:t>
            </a:r>
            <a:endParaRPr lang="en-US" dirty="0"/>
          </a:p>
          <a:p>
            <a:endParaRPr lang="en-US" dirty="0"/>
          </a:p>
          <a:p>
            <a:r>
              <a:rPr lang="en-US" sz="2000" i="0" dirty="0">
                <a:effectLst/>
                <a:latin typeface="Times New Roman" panose="02020603050405020304" pitchFamily="18" charset="0"/>
                <a:cs typeface="Times New Roman" panose="02020603050405020304" pitchFamily="18" charset="0"/>
              </a:rPr>
              <a:t>The AD8232 is an integrated signal conditioning block for ECG and other biopotential measurement applications. It is designed to extract, amplify, and filter small biopotential signals in the presence of noisy conditions, such as those created by motion or remote electrode placement.</a:t>
            </a:r>
          </a:p>
          <a:p>
            <a:endParaRPr lang="en-US" sz="2000" dirty="0">
              <a:latin typeface="Times New Roman" panose="02020603050405020304" pitchFamily="18" charset="0"/>
              <a:cs typeface="Times New Roman" panose="02020603050405020304" pitchFamily="18" charset="0"/>
            </a:endParaRPr>
          </a:p>
          <a:p>
            <a:endParaRPr lang="en-US" sz="2000" i="0" dirty="0">
              <a:effectLs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3" name="Picture 2" descr="A red circuit board with a black connecto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3079" y="2810445"/>
            <a:ext cx="3503691" cy="273207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10694" y="823865"/>
            <a:ext cx="7831248" cy="196850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ATMEGA328</a:t>
            </a:r>
          </a:p>
          <a:p>
            <a:endParaRPr lang="en-US" dirty="0"/>
          </a:p>
          <a:p>
            <a:r>
              <a:rPr lang="en-US" sz="2000" b="0" i="0" dirty="0">
                <a:effectLst/>
                <a:latin typeface="Times New Roman" panose="02020603050405020304" pitchFamily="18" charset="0"/>
                <a:cs typeface="Times New Roman" panose="02020603050405020304" pitchFamily="18" charset="0"/>
              </a:rPr>
              <a:t>The ATmega328 is a single-chip microcontroller created by Atmel in the </a:t>
            </a:r>
            <a:r>
              <a:rPr lang="en-US" sz="2000" b="0" i="0" dirty="0" err="1">
                <a:effectLst/>
                <a:latin typeface="Times New Roman" panose="02020603050405020304" pitchFamily="18" charset="0"/>
                <a:cs typeface="Times New Roman" panose="02020603050405020304" pitchFamily="18" charset="0"/>
              </a:rPr>
              <a:t>megaAVR</a:t>
            </a:r>
            <a:r>
              <a:rPr lang="en-US" sz="2000" b="0" i="0" dirty="0">
                <a:effectLst/>
                <a:latin typeface="Times New Roman" panose="02020603050405020304" pitchFamily="18" charset="0"/>
                <a:cs typeface="Times New Roman" panose="02020603050405020304" pitchFamily="18" charset="0"/>
              </a:rPr>
              <a:t> family (later Microchip Technology acquired Atmel in 2016). It has a modified Harvard architecture 8-bit RISC processor core</a:t>
            </a:r>
            <a:r>
              <a:rPr lang="en-US" sz="2000" b="0" i="0" dirty="0">
                <a:solidFill>
                  <a:srgbClr val="E8EAED"/>
                </a:solidFill>
                <a:effectLst/>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pic>
        <p:nvPicPr>
          <p:cNvPr id="3" name="Picture 2" descr="A black and white microchip"/>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9765" y="3098800"/>
            <a:ext cx="2428240" cy="1694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54883" y="540083"/>
            <a:ext cx="9669101" cy="258445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10KRESISTOR</a:t>
            </a:r>
          </a:p>
          <a:p>
            <a:endParaRPr lang="en-US" dirty="0"/>
          </a:p>
          <a:p>
            <a:r>
              <a:rPr lang="en-US" sz="2000" b="0" i="0" dirty="0">
                <a:effectLst/>
                <a:latin typeface="Times New Roman" panose="02020603050405020304" pitchFamily="18" charset="0"/>
                <a:cs typeface="Times New Roman" panose="02020603050405020304" pitchFamily="18" charset="0"/>
              </a:rPr>
              <a:t>A 10k resistor is a fundamental electronic component that plays a vital role in circuits by limiting the flow of electric current. Its resistance value is 10,000 ohms. These resistors are identified by a color code, typically brown-black-orange-gold, where each color represents a digit or multiplier.</a:t>
            </a:r>
          </a:p>
          <a:p>
            <a:endParaRPr lang="en-US" sz="2000" b="0" i="0" dirty="0">
              <a:effectLs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3" name="Picture 2" descr="10K 0.25W Metal Film Resistor (10K 1/4W MFR Resistor) - SRK ELECTRON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6075" y="2842245"/>
            <a:ext cx="2706986" cy="11735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530037" y="4016010"/>
            <a:ext cx="8809020" cy="196850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22pFCAPACITOR</a:t>
            </a:r>
          </a:p>
          <a:p>
            <a:endParaRPr lang="en-US" dirty="0"/>
          </a:p>
          <a:p>
            <a:r>
              <a:rPr lang="en-US" sz="2000" b="0" i="0" dirty="0">
                <a:effectLst/>
                <a:latin typeface="Times New Roman" panose="02020603050405020304" pitchFamily="18" charset="0"/>
                <a:cs typeface="Times New Roman" panose="02020603050405020304" pitchFamily="18" charset="0"/>
              </a:rPr>
              <a:t>A 22pF 50V disc type Ceramic Capacitor. Use this capacitor for power decoupling, having a smooth power in your circuit, timing circuits, etc. It is always a good idea to put one of these next to the power pins of a microcontroller.</a:t>
            </a:r>
          </a:p>
          <a:p>
            <a:endParaRPr lang="en-US" sz="2000" dirty="0">
              <a:latin typeface="Times New Roman" panose="02020603050405020304" pitchFamily="18" charset="0"/>
              <a:cs typeface="Times New Roman" panose="02020603050405020304" pitchFamily="18" charset="0"/>
            </a:endParaRPr>
          </a:p>
        </p:txBody>
      </p:sp>
      <p:pic>
        <p:nvPicPr>
          <p:cNvPr id="5" name="Picture 4" descr="A close-up of a capacitor&#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822" y="5397802"/>
            <a:ext cx="2143125" cy="1249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7853" y="585791"/>
            <a:ext cx="9750584" cy="199961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IC BASE</a:t>
            </a:r>
            <a:endParaRPr lang="en-US" sz="24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0" i="0" dirty="0">
                <a:effectLst/>
                <a:latin typeface="Times New Roman" panose="02020603050405020304" pitchFamily="18" charset="0"/>
                <a:cs typeface="Times New Roman" panose="02020603050405020304" pitchFamily="18" charset="0"/>
              </a:rPr>
              <a:t>An IC base, also known as an integrated circuit socket, is a component used to connect integrated circuits (ICs) to printed circuit boards (PCBs). IC bases are used to hold an IC or other device and make electrical connections between the device and a circuit board. </a:t>
            </a:r>
          </a:p>
          <a:p>
            <a:endParaRPr lang="en-US" sz="2000" dirty="0">
              <a:latin typeface="Times New Roman" panose="02020603050405020304" pitchFamily="18" charset="0"/>
              <a:cs typeface="Times New Roman" panose="02020603050405020304" pitchFamily="18" charset="0"/>
            </a:endParaRPr>
          </a:p>
        </p:txBody>
      </p:sp>
      <p:pic>
        <p:nvPicPr>
          <p:cNvPr id="3" name="Picture 2" descr="A black rectangular object with small hol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0855" y="2826765"/>
            <a:ext cx="1905000" cy="2114550"/>
          </a:xfrm>
          <a:prstGeom prst="rect">
            <a:avLst/>
          </a:prstGeom>
        </p:spPr>
      </p:pic>
    </p:spTree>
  </p:cSld>
  <p:clrMapOvr>
    <a:masterClrMapping/>
  </p:clrMapOvr>
  <p:transition spd="slow">
    <p:wheel spokes="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3885" y="585470"/>
            <a:ext cx="7842885" cy="6247130"/>
          </a:xfrm>
          <a:prstGeom prst="rect">
            <a:avLst/>
          </a:prstGeom>
          <a:noFill/>
        </p:spPr>
        <p:txBody>
          <a:bodyPr wrap="square">
            <a:spAutoFit/>
          </a:bodyPr>
          <a:lstStyle/>
          <a:p>
            <a:pPr algn="l" rtl="0" fontAlgn="base"/>
            <a:r>
              <a:rPr lang="en-US" sz="1600" b="0" i="0" dirty="0">
                <a:effectLst/>
                <a:latin typeface="Times New Roman" panose="02020603050405020304" pitchFamily="18" charset="0"/>
                <a:cs typeface="Times New Roman" panose="02020603050405020304" pitchFamily="18" charset="0"/>
                <a:hlinkClick r:id="rId2"/>
              </a:rPr>
              <a:t>#include</a:t>
            </a:r>
            <a:r>
              <a:rPr lang="en-US" sz="1600" b="0" i="0" dirty="0">
                <a:effectLst/>
                <a:latin typeface="Times New Roman" panose="02020603050405020304" pitchFamily="18" charset="0"/>
                <a:cs typeface="Times New Roman" panose="02020603050405020304" pitchFamily="18" charset="0"/>
              </a:rPr>
              <a:t> &lt;</a:t>
            </a:r>
            <a:r>
              <a:rPr lang="en-US" sz="1600" b="0" i="0" dirty="0" err="1">
                <a:effectLst/>
                <a:latin typeface="Times New Roman" panose="02020603050405020304" pitchFamily="18" charset="0"/>
                <a:cs typeface="Times New Roman" panose="02020603050405020304" pitchFamily="18" charset="0"/>
              </a:rPr>
              <a:t>Servo.h</a:t>
            </a:r>
            <a:r>
              <a:rPr lang="en-US" sz="1600" b="0" i="0" dirty="0">
                <a:effectLst/>
                <a:latin typeface="Times New Roman" panose="02020603050405020304" pitchFamily="18" charset="0"/>
                <a:cs typeface="Times New Roman" panose="02020603050405020304" pitchFamily="18" charset="0"/>
              </a:rPr>
              <a:t>&gt;</a:t>
            </a:r>
          </a:p>
          <a:p>
            <a:pPr algn="l" fontAlgn="base"/>
            <a:br>
              <a:rPr lang="en-US" sz="1600" b="0" i="0" dirty="0">
                <a:effectLst/>
                <a:latin typeface="Times New Roman" panose="02020603050405020304" pitchFamily="18" charset="0"/>
                <a:cs typeface="Times New Roman" panose="02020603050405020304" pitchFamily="18" charset="0"/>
              </a:rPr>
            </a:br>
            <a:endParaRPr lang="en-US" sz="1600" b="0" i="0" dirty="0">
              <a:effectLst/>
              <a:latin typeface="Times New Roman" panose="02020603050405020304" pitchFamily="18" charset="0"/>
              <a:cs typeface="Times New Roman" panose="02020603050405020304" pitchFamily="18" charset="0"/>
            </a:endParaRP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THRESHOLD 150 //In order to determine the state of the hand (opened/closed)</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EMGPIN 3 //Analog pin connected to Muscle Sensor V3 Board</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LITTLEPIN 2 //Digital pin used by Little servo</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RINGPIN 3 //Digital pin used by Ring servo</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MIDDLEPIN 4 //Digital pin used by Middle servo</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INDEXPIN 5 //Digital pin used by Index servo</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THUMBPIN 6 //Digital pin used by Thumb servo</a:t>
            </a:r>
          </a:p>
          <a:p>
            <a:pPr algn="l" fontAlgn="base"/>
            <a:br>
              <a:rPr lang="en-US" sz="1600" b="0" i="0" dirty="0">
                <a:effectLst/>
                <a:latin typeface="Times New Roman" panose="02020603050405020304" pitchFamily="18" charset="0"/>
                <a:cs typeface="Times New Roman" panose="02020603050405020304" pitchFamily="18" charset="0"/>
              </a:rPr>
            </a:br>
            <a:endParaRPr lang="en-US" sz="1600" b="0" i="0" dirty="0">
              <a:effectLst/>
              <a:latin typeface="Times New Roman" panose="02020603050405020304" pitchFamily="18" charset="0"/>
              <a:cs typeface="Times New Roman" panose="02020603050405020304" pitchFamily="18" charset="0"/>
            </a:endParaRPr>
          </a:p>
          <a:p>
            <a:pPr algn="l" rtl="0" fontAlgn="base"/>
            <a:r>
              <a:rPr lang="en-US" sz="1600" b="0" i="0" dirty="0">
                <a:effectLst/>
                <a:latin typeface="Times New Roman" panose="02020603050405020304" pitchFamily="18" charset="0"/>
                <a:cs typeface="Times New Roman" panose="02020603050405020304" pitchFamily="18" charset="0"/>
              </a:rPr>
              <a:t>//Constants used to open and close the fingers</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LITTLE 1 </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RING 2</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MIDDLE 3</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INDEX 4</a:t>
            </a:r>
          </a:p>
          <a:p>
            <a:pPr algn="l" rtl="0" fontAlgn="base"/>
            <a:r>
              <a:rPr lang="en-US" sz="1600" b="0" i="0" dirty="0">
                <a:effectLst/>
                <a:latin typeface="Times New Roman" panose="02020603050405020304" pitchFamily="18" charset="0"/>
                <a:cs typeface="Times New Roman" panose="02020603050405020304" pitchFamily="18" charset="0"/>
                <a:hlinkClick r:id="rId3"/>
              </a:rPr>
              <a:t>#define</a:t>
            </a:r>
            <a:r>
              <a:rPr lang="en-US" sz="1600" b="0" i="0" dirty="0">
                <a:effectLst/>
                <a:latin typeface="Times New Roman" panose="02020603050405020304" pitchFamily="18" charset="0"/>
                <a:cs typeface="Times New Roman" panose="02020603050405020304" pitchFamily="18" charset="0"/>
              </a:rPr>
              <a:t> THUMB 5</a:t>
            </a:r>
          </a:p>
          <a:p>
            <a:pPr algn="l" fontAlgn="base"/>
            <a:br>
              <a:rPr lang="en-US" sz="1600" b="0" i="0" dirty="0">
                <a:effectLst/>
                <a:latin typeface="Times New Roman" panose="02020603050405020304" pitchFamily="18" charset="0"/>
                <a:cs typeface="Times New Roman" panose="02020603050405020304" pitchFamily="18" charset="0"/>
              </a:rPr>
            </a:br>
            <a:endParaRPr lang="en-US" sz="1600" b="0" i="0" dirty="0">
              <a:effectLst/>
              <a:latin typeface="Times New Roman" panose="02020603050405020304" pitchFamily="18" charset="0"/>
              <a:cs typeface="Times New Roman" panose="02020603050405020304" pitchFamily="18" charset="0"/>
            </a:endParaRPr>
          </a:p>
          <a:p>
            <a:pPr algn="l" rtl="0" fontAlgn="base"/>
            <a:r>
              <a:rPr lang="en-US" sz="1600" b="0" i="0" dirty="0">
                <a:effectLst/>
                <a:latin typeface="Times New Roman" panose="02020603050405020304" pitchFamily="18" charset="0"/>
                <a:cs typeface="Times New Roman" panose="02020603050405020304" pitchFamily="18" charset="0"/>
              </a:rPr>
              <a:t>Servo </a:t>
            </a:r>
            <a:r>
              <a:rPr lang="en-US" sz="1600" b="0" i="0" dirty="0" err="1">
                <a:effectLst/>
                <a:latin typeface="Times New Roman" panose="02020603050405020304" pitchFamily="18" charset="0"/>
                <a:cs typeface="Times New Roman" panose="02020603050405020304" pitchFamily="18" charset="0"/>
              </a:rPr>
              <a:t>servoLittleFinger</a:t>
            </a:r>
            <a:r>
              <a:rPr lang="en-US" sz="1600" b="0" i="0" dirty="0">
                <a:effectLst/>
                <a:latin typeface="Times New Roman" panose="02020603050405020304" pitchFamily="18" charset="0"/>
                <a:cs typeface="Times New Roman" panose="02020603050405020304" pitchFamily="18" charset="0"/>
              </a:rPr>
              <a:t>; // Define servo fingers</a:t>
            </a:r>
          </a:p>
          <a:p>
            <a:pPr algn="l" rtl="0" fontAlgn="base"/>
            <a:r>
              <a:rPr lang="en-US" sz="1600" b="0" i="0" dirty="0">
                <a:effectLst/>
                <a:latin typeface="Times New Roman" panose="02020603050405020304" pitchFamily="18" charset="0"/>
                <a:cs typeface="Times New Roman" panose="02020603050405020304" pitchFamily="18" charset="0"/>
              </a:rPr>
              <a:t>Servo </a:t>
            </a:r>
            <a:r>
              <a:rPr lang="en-US" sz="1600" b="0" i="0" dirty="0" err="1">
                <a:effectLst/>
                <a:latin typeface="Times New Roman" panose="02020603050405020304" pitchFamily="18" charset="0"/>
                <a:cs typeface="Times New Roman" panose="02020603050405020304" pitchFamily="18" charset="0"/>
              </a:rPr>
              <a:t>servoRingFinger</a:t>
            </a:r>
            <a:r>
              <a:rPr lang="en-US" sz="1600" b="0" i="0" dirty="0">
                <a:effectLst/>
                <a:latin typeface="Times New Roman" panose="02020603050405020304" pitchFamily="18" charset="0"/>
                <a:cs typeface="Times New Roman" panose="02020603050405020304" pitchFamily="18" charset="0"/>
              </a:rPr>
              <a:t>; // Define servo fingers</a:t>
            </a:r>
          </a:p>
          <a:p>
            <a:pPr algn="l" rtl="0" fontAlgn="base"/>
            <a:r>
              <a:rPr lang="en-US" sz="1600" b="0" i="0" dirty="0">
                <a:effectLst/>
                <a:latin typeface="Times New Roman" panose="02020603050405020304" pitchFamily="18" charset="0"/>
                <a:cs typeface="Times New Roman" panose="02020603050405020304" pitchFamily="18" charset="0"/>
              </a:rPr>
              <a:t>Servo </a:t>
            </a:r>
            <a:r>
              <a:rPr lang="en-US" sz="1600" b="0" i="0" dirty="0" err="1">
                <a:effectLst/>
                <a:latin typeface="Times New Roman" panose="02020603050405020304" pitchFamily="18" charset="0"/>
                <a:cs typeface="Times New Roman" panose="02020603050405020304" pitchFamily="18" charset="0"/>
              </a:rPr>
              <a:t>servoMiddleFinger</a:t>
            </a:r>
            <a:r>
              <a:rPr lang="en-US" sz="1600" b="0" i="0" dirty="0">
                <a:effectLst/>
                <a:latin typeface="Times New Roman" panose="02020603050405020304" pitchFamily="18" charset="0"/>
                <a:cs typeface="Times New Roman" panose="02020603050405020304" pitchFamily="18" charset="0"/>
              </a:rPr>
              <a:t>; // Define servo fingers</a:t>
            </a:r>
          </a:p>
          <a:p>
            <a:pPr algn="l" rtl="0" fontAlgn="base"/>
            <a:r>
              <a:rPr lang="en-US" sz="1600" b="0" i="0" dirty="0">
                <a:effectLst/>
                <a:latin typeface="Times New Roman" panose="02020603050405020304" pitchFamily="18" charset="0"/>
                <a:cs typeface="Times New Roman" panose="02020603050405020304" pitchFamily="18" charset="0"/>
              </a:rPr>
              <a:t>Servo </a:t>
            </a:r>
            <a:r>
              <a:rPr lang="en-US" sz="1600" b="0" i="0" dirty="0" err="1">
                <a:effectLst/>
                <a:latin typeface="Times New Roman" panose="02020603050405020304" pitchFamily="18" charset="0"/>
                <a:cs typeface="Times New Roman" panose="02020603050405020304" pitchFamily="18" charset="0"/>
              </a:rPr>
              <a:t>servoIndexFinger</a:t>
            </a:r>
            <a:r>
              <a:rPr lang="en-US" sz="1600" b="0" i="0" dirty="0">
                <a:effectLst/>
                <a:latin typeface="Times New Roman" panose="02020603050405020304" pitchFamily="18" charset="0"/>
                <a:cs typeface="Times New Roman" panose="02020603050405020304" pitchFamily="18" charset="0"/>
              </a:rPr>
              <a:t>; // Define servo fingers</a:t>
            </a:r>
          </a:p>
          <a:p>
            <a:pPr algn="l" rtl="0" fontAlgn="base"/>
            <a:r>
              <a:rPr lang="en-US" sz="1600" b="0" i="0" dirty="0">
                <a:effectLst/>
                <a:latin typeface="Times New Roman" panose="02020603050405020304" pitchFamily="18" charset="0"/>
                <a:cs typeface="Times New Roman" panose="02020603050405020304" pitchFamily="18" charset="0"/>
              </a:rPr>
              <a:t>Servo </a:t>
            </a:r>
            <a:r>
              <a:rPr lang="en-US" sz="1600" b="0" i="0" dirty="0" err="1">
                <a:effectLst/>
                <a:latin typeface="Times New Roman" panose="02020603050405020304" pitchFamily="18" charset="0"/>
                <a:cs typeface="Times New Roman" panose="02020603050405020304" pitchFamily="18" charset="0"/>
              </a:rPr>
              <a:t>servoThumbFinger</a:t>
            </a:r>
            <a:r>
              <a:rPr lang="en-US" sz="1600" b="0" i="0" dirty="0">
                <a:effectLst/>
                <a:latin typeface="Times New Roman" panose="02020603050405020304" pitchFamily="18" charset="0"/>
                <a:cs typeface="Times New Roman" panose="02020603050405020304" pitchFamily="18" charset="0"/>
              </a:rPr>
              <a:t>; // Define servo fingers</a:t>
            </a:r>
          </a:p>
        </p:txBody>
      </p:sp>
      <p:sp>
        <p:nvSpPr>
          <p:cNvPr id="6" name="TextBox 5"/>
          <p:cNvSpPr txBox="1"/>
          <p:nvPr/>
        </p:nvSpPr>
        <p:spPr>
          <a:xfrm>
            <a:off x="603885" y="217170"/>
            <a:ext cx="6999605" cy="368300"/>
          </a:xfrm>
          <a:prstGeom prst="rect">
            <a:avLst/>
          </a:prstGeom>
          <a:noFill/>
        </p:spPr>
        <p:txBody>
          <a:bodyPr wrap="square" rtlCol="0">
            <a:spAutoFit/>
          </a:bodyPr>
          <a:lstStyle/>
          <a:p>
            <a:r>
              <a:rPr lang="en-US" dirty="0"/>
              <a:t>PROGRAM CODE:-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15975" y="97155"/>
            <a:ext cx="8614410" cy="7477760"/>
          </a:xfrm>
          <a:prstGeom prst="rect">
            <a:avLst/>
          </a:prstGeom>
          <a:noFill/>
        </p:spPr>
        <p:txBody>
          <a:bodyPr wrap="square">
            <a:spAutoFit/>
          </a:bodyPr>
          <a:lstStyle/>
          <a:p>
            <a:pPr algn="l" rtl="0" fontAlgn="base"/>
            <a:r>
              <a:rPr lang="en-US" sz="2000" dirty="0">
                <a:effectLst/>
                <a:latin typeface="Times New Roman" panose="02020603050405020304" pitchFamily="18" charset="0"/>
                <a:cs typeface="Times New Roman" panose="02020603050405020304" pitchFamily="18" charset="0"/>
              </a:rPr>
              <a:t>int finger;</a:t>
            </a:r>
          </a:p>
          <a:p>
            <a:pPr algn="l" fontAlgn="base"/>
            <a:br>
              <a:rPr lang="en-US" sz="2000" dirty="0">
                <a:effectLst/>
                <a:latin typeface="Times New Roman" panose="02020603050405020304" pitchFamily="18" charset="0"/>
                <a:cs typeface="Times New Roman" panose="02020603050405020304" pitchFamily="18" charset="0"/>
              </a:rPr>
            </a:br>
            <a:endParaRPr lang="en-US" sz="2000" dirty="0">
              <a:effectLst/>
              <a:latin typeface="Times New Roman" panose="02020603050405020304" pitchFamily="18" charset="0"/>
              <a:cs typeface="Times New Roman" panose="02020603050405020304" pitchFamily="18" charset="0"/>
            </a:endParaRPr>
          </a:p>
          <a:p>
            <a:pPr algn="l" rtl="0" fontAlgn="base"/>
            <a:r>
              <a:rPr lang="en-US" sz="2000" dirty="0">
                <a:effectLst/>
                <a:latin typeface="Times New Roman" panose="02020603050405020304" pitchFamily="18" charset="0"/>
                <a:cs typeface="Times New Roman" panose="02020603050405020304" pitchFamily="18" charset="0"/>
              </a:rPr>
              <a:t>// Motion routines for </a:t>
            </a:r>
            <a:r>
              <a:rPr lang="en-US" sz="2000" dirty="0" err="1">
                <a:effectLst/>
                <a:latin typeface="Times New Roman" panose="02020603050405020304" pitchFamily="18" charset="0"/>
                <a:cs typeface="Times New Roman" panose="02020603050405020304" pitchFamily="18" charset="0"/>
              </a:rPr>
              <a:t>handopen</a:t>
            </a:r>
            <a:r>
              <a:rPr lang="en-US" sz="2000" dirty="0">
                <a:effectLst/>
                <a:latin typeface="Times New Roman" panose="02020603050405020304" pitchFamily="18" charset="0"/>
                <a:cs typeface="Times New Roman" panose="02020603050405020304" pitchFamily="18" charset="0"/>
              </a:rPr>
              <a:t> and </a:t>
            </a:r>
            <a:r>
              <a:rPr lang="en-US" sz="2000" dirty="0" err="1">
                <a:effectLst/>
                <a:latin typeface="Times New Roman" panose="02020603050405020304" pitchFamily="18" charset="0"/>
                <a:cs typeface="Times New Roman" panose="02020603050405020304" pitchFamily="18" charset="0"/>
              </a:rPr>
              <a:t>handclose</a:t>
            </a:r>
            <a:endParaRPr lang="en-US" sz="2000" dirty="0">
              <a:effectLst/>
              <a:latin typeface="Times New Roman" panose="02020603050405020304" pitchFamily="18" charset="0"/>
              <a:cs typeface="Times New Roman" panose="02020603050405020304" pitchFamily="18" charset="0"/>
            </a:endParaRPr>
          </a:p>
          <a:p>
            <a:pPr algn="l" rtl="0" fontAlgn="base"/>
            <a:r>
              <a:rPr lang="en-US" sz="2000" dirty="0">
                <a:effectLst/>
                <a:latin typeface="Times New Roman" panose="02020603050405020304" pitchFamily="18" charset="0"/>
                <a:cs typeface="Times New Roman" panose="02020603050405020304" pitchFamily="18" charset="0"/>
              </a:rPr>
              <a:t>void openhand(){for(finger = 1; finger &lt; 6; finger++){</a:t>
            </a:r>
            <a:r>
              <a:rPr lang="en-US" sz="2000" dirty="0" err="1">
                <a:effectLst/>
                <a:latin typeface="Times New Roman" panose="02020603050405020304" pitchFamily="18" charset="0"/>
                <a:cs typeface="Times New Roman" panose="02020603050405020304" pitchFamily="18" charset="0"/>
              </a:rPr>
              <a:t>openFinger</a:t>
            </a:r>
            <a:r>
              <a:rPr lang="en-US" sz="2000" dirty="0">
                <a:effectLst/>
                <a:latin typeface="Times New Roman" panose="02020603050405020304" pitchFamily="18" charset="0"/>
                <a:cs typeface="Times New Roman" panose="02020603050405020304" pitchFamily="18" charset="0"/>
              </a:rPr>
              <a:t>(finger);}}</a:t>
            </a:r>
          </a:p>
          <a:p>
            <a:pPr algn="l" rtl="0" fontAlgn="base"/>
            <a:r>
              <a:rPr lang="en-US" sz="2000" dirty="0">
                <a:effectLst/>
                <a:latin typeface="Times New Roman" panose="02020603050405020304" pitchFamily="18" charset="0"/>
                <a:cs typeface="Times New Roman" panose="02020603050405020304" pitchFamily="18" charset="0"/>
              </a:rPr>
              <a:t>void </a:t>
            </a:r>
            <a:r>
              <a:rPr lang="en-US" sz="2000" dirty="0" err="1">
                <a:effectLst/>
                <a:latin typeface="Times New Roman" panose="02020603050405020304" pitchFamily="18" charset="0"/>
                <a:cs typeface="Times New Roman" panose="02020603050405020304" pitchFamily="18" charset="0"/>
              </a:rPr>
              <a:t>closehand</a:t>
            </a:r>
            <a:r>
              <a:rPr lang="en-US" sz="2000" dirty="0">
                <a:effectLst/>
                <a:latin typeface="Times New Roman" panose="02020603050405020304" pitchFamily="18" charset="0"/>
                <a:cs typeface="Times New Roman" panose="02020603050405020304" pitchFamily="18" charset="0"/>
              </a:rPr>
              <a:t>(){for(finger = 1; finger &lt; 6 ; finger++){</a:t>
            </a:r>
            <a:r>
              <a:rPr lang="en-US" sz="2000" dirty="0" err="1">
                <a:effectLst/>
                <a:latin typeface="Times New Roman" panose="02020603050405020304" pitchFamily="18" charset="0"/>
                <a:cs typeface="Times New Roman" panose="02020603050405020304" pitchFamily="18" charset="0"/>
              </a:rPr>
              <a:t>closeFinger</a:t>
            </a:r>
            <a:r>
              <a:rPr lang="en-US" sz="2000" dirty="0">
                <a:effectLst/>
                <a:latin typeface="Times New Roman" panose="02020603050405020304" pitchFamily="18" charset="0"/>
                <a:cs typeface="Times New Roman" panose="02020603050405020304" pitchFamily="18" charset="0"/>
              </a:rPr>
              <a:t>(finger);}}</a:t>
            </a:r>
          </a:p>
          <a:p>
            <a:pPr algn="l" fontAlgn="base"/>
            <a:br>
              <a:rPr lang="en-US" sz="2000" dirty="0">
                <a:effectLst/>
                <a:latin typeface="Times New Roman" panose="02020603050405020304" pitchFamily="18" charset="0"/>
                <a:cs typeface="Times New Roman" panose="02020603050405020304" pitchFamily="18" charset="0"/>
              </a:rPr>
            </a:br>
            <a:endParaRPr lang="en-US" sz="2000" dirty="0">
              <a:effectLst/>
              <a:latin typeface="Times New Roman" panose="02020603050405020304" pitchFamily="18" charset="0"/>
              <a:cs typeface="Times New Roman" panose="02020603050405020304" pitchFamily="18" charset="0"/>
            </a:endParaRPr>
          </a:p>
          <a:p>
            <a:pPr algn="l" rtl="0" fontAlgn="base"/>
            <a:r>
              <a:rPr lang="en-US" sz="2000" dirty="0">
                <a:effectLst/>
                <a:latin typeface="Times New Roman" panose="02020603050405020304" pitchFamily="18" charset="0"/>
                <a:cs typeface="Times New Roman" panose="02020603050405020304" pitchFamily="18" charset="0"/>
              </a:rPr>
              <a:t>// You have to rewrite properly the functions to open and close the fingers </a:t>
            </a:r>
          </a:p>
          <a:p>
            <a:pPr algn="l" rtl="0" fontAlgn="base"/>
            <a:r>
              <a:rPr lang="en-US" sz="2000" dirty="0">
                <a:effectLst/>
                <a:latin typeface="Times New Roman" panose="02020603050405020304" pitchFamily="18" charset="0"/>
                <a:cs typeface="Times New Roman" panose="02020603050405020304" pitchFamily="18" charset="0"/>
              </a:rPr>
              <a:t>// according of your assembly</a:t>
            </a:r>
          </a:p>
          <a:p>
            <a:pPr algn="l" rtl="0" fontAlgn="base"/>
            <a:r>
              <a:rPr lang="en-US" sz="2000" dirty="0">
                <a:effectLst/>
                <a:latin typeface="Times New Roman" panose="02020603050405020304" pitchFamily="18" charset="0"/>
                <a:cs typeface="Times New Roman" panose="02020603050405020304" pitchFamily="18" charset="0"/>
              </a:rPr>
              <a:t>// In my case, middle and index fingers are opened when servo is at 170 degrees and the others when servo is at 0 degrees</a:t>
            </a:r>
          </a:p>
          <a:p>
            <a:pPr algn="l" rtl="0" fontAlgn="base"/>
            <a:r>
              <a:rPr lang="en-US" sz="2000" dirty="0">
                <a:effectLst/>
                <a:latin typeface="Times New Roman" panose="02020603050405020304" pitchFamily="18" charset="0"/>
                <a:cs typeface="Times New Roman" panose="02020603050405020304" pitchFamily="18" charset="0"/>
              </a:rPr>
              <a:t>// I have used </a:t>
            </a:r>
            <a:r>
              <a:rPr lang="en-US" sz="2000" dirty="0" err="1">
                <a:effectLst/>
                <a:latin typeface="Times New Roman" panose="02020603050405020304" pitchFamily="18" charset="0"/>
                <a:cs typeface="Times New Roman" panose="02020603050405020304" pitchFamily="18" charset="0"/>
              </a:rPr>
              <a:t>Towardpro</a:t>
            </a:r>
            <a:r>
              <a:rPr lang="en-US" sz="2000" dirty="0">
                <a:effectLst/>
                <a:latin typeface="Times New Roman" panose="02020603050405020304" pitchFamily="18" charset="0"/>
                <a:cs typeface="Times New Roman" panose="02020603050405020304" pitchFamily="18" charset="0"/>
              </a:rPr>
              <a:t> MG996R servos</a:t>
            </a:r>
          </a:p>
          <a:p>
            <a:pPr algn="l" fontAlgn="base"/>
            <a:br>
              <a:rPr lang="en-US" sz="2000" dirty="0">
                <a:effectLst/>
                <a:latin typeface="Times New Roman" panose="02020603050405020304" pitchFamily="18" charset="0"/>
                <a:cs typeface="Times New Roman" panose="02020603050405020304" pitchFamily="18" charset="0"/>
              </a:rPr>
            </a:br>
            <a:endParaRPr lang="en-US" sz="2000" dirty="0">
              <a:effectLst/>
              <a:latin typeface="Times New Roman" panose="02020603050405020304" pitchFamily="18" charset="0"/>
              <a:cs typeface="Times New Roman" panose="02020603050405020304" pitchFamily="18" charset="0"/>
            </a:endParaRPr>
          </a:p>
          <a:p>
            <a:pPr algn="l" rtl="0" fontAlgn="base"/>
            <a:r>
              <a:rPr lang="en-US" sz="2000" dirty="0">
                <a:effectLst/>
                <a:latin typeface="Times New Roman" panose="02020603050405020304" pitchFamily="18" charset="0"/>
                <a:cs typeface="Times New Roman" panose="02020603050405020304" pitchFamily="18" charset="0"/>
              </a:rPr>
              <a:t>void </a:t>
            </a:r>
            <a:r>
              <a:rPr lang="en-US" sz="2000" dirty="0" err="1">
                <a:effectLst/>
                <a:latin typeface="Times New Roman" panose="02020603050405020304" pitchFamily="18" charset="0"/>
                <a:cs typeface="Times New Roman" panose="02020603050405020304" pitchFamily="18" charset="0"/>
              </a:rPr>
              <a:t>openFinger</a:t>
            </a:r>
            <a:r>
              <a:rPr lang="en-US" sz="2000" dirty="0">
                <a:effectLst/>
                <a:latin typeface="Times New Roman" panose="02020603050405020304" pitchFamily="18" charset="0"/>
                <a:cs typeface="Times New Roman" panose="02020603050405020304" pitchFamily="18" charset="0"/>
              </a:rPr>
              <a:t>(int finger){</a:t>
            </a:r>
          </a:p>
          <a:p>
            <a:pPr algn="l" rtl="0" fontAlgn="base"/>
            <a:r>
              <a:rPr lang="en-US" sz="2000" dirty="0">
                <a:effectLst/>
                <a:latin typeface="Times New Roman" panose="02020603050405020304" pitchFamily="18" charset="0"/>
                <a:cs typeface="Times New Roman" panose="02020603050405020304" pitchFamily="18" charset="0"/>
              </a:rPr>
              <a:t>  if(finger==LITTLE){</a:t>
            </a:r>
            <a:r>
              <a:rPr lang="en-US" sz="2000" dirty="0" err="1">
                <a:effectLst/>
                <a:latin typeface="Times New Roman" panose="02020603050405020304" pitchFamily="18" charset="0"/>
                <a:cs typeface="Times New Roman" panose="02020603050405020304" pitchFamily="18" charset="0"/>
              </a:rPr>
              <a:t>servoLittleFinger.write</a:t>
            </a:r>
            <a:r>
              <a:rPr lang="en-US" sz="2000" dirty="0">
                <a:effectLst/>
                <a:latin typeface="Times New Roman" panose="02020603050405020304" pitchFamily="18" charset="0"/>
                <a:cs typeface="Times New Roman" panose="02020603050405020304" pitchFamily="18" charset="0"/>
              </a:rPr>
              <a:t>(0);} // Little finger</a:t>
            </a:r>
          </a:p>
          <a:p>
            <a:pPr algn="l" rtl="0" fontAlgn="base"/>
            <a:r>
              <a:rPr lang="en-US" sz="2000" dirty="0">
                <a:effectLst/>
                <a:latin typeface="Times New Roman" panose="02020603050405020304" pitchFamily="18" charset="0"/>
                <a:cs typeface="Times New Roman" panose="02020603050405020304" pitchFamily="18" charset="0"/>
              </a:rPr>
              <a:t>  else if(finger==RING){</a:t>
            </a:r>
            <a:r>
              <a:rPr lang="en-US" sz="2000" dirty="0" err="1">
                <a:effectLst/>
                <a:latin typeface="Times New Roman" panose="02020603050405020304" pitchFamily="18" charset="0"/>
                <a:cs typeface="Times New Roman" panose="02020603050405020304" pitchFamily="18" charset="0"/>
              </a:rPr>
              <a:t>servoRingFinger.write</a:t>
            </a:r>
            <a:r>
              <a:rPr lang="en-US" sz="2000" dirty="0">
                <a:effectLst/>
                <a:latin typeface="Times New Roman" panose="02020603050405020304" pitchFamily="18" charset="0"/>
                <a:cs typeface="Times New Roman" panose="02020603050405020304" pitchFamily="18" charset="0"/>
              </a:rPr>
              <a:t>(170);}// Ring finger</a:t>
            </a:r>
          </a:p>
          <a:p>
            <a:pPr algn="l" rtl="0" fontAlgn="base"/>
            <a:r>
              <a:rPr lang="en-US" sz="2000" dirty="0">
                <a:effectLst/>
                <a:latin typeface="Times New Roman" panose="02020603050405020304" pitchFamily="18" charset="0"/>
                <a:cs typeface="Times New Roman" panose="02020603050405020304" pitchFamily="18" charset="0"/>
              </a:rPr>
              <a:t>  else if(finger==MIDDLE){</a:t>
            </a:r>
            <a:r>
              <a:rPr lang="en-US" sz="2000" dirty="0" err="1">
                <a:effectLst/>
                <a:latin typeface="Times New Roman" panose="02020603050405020304" pitchFamily="18" charset="0"/>
                <a:cs typeface="Times New Roman" panose="02020603050405020304" pitchFamily="18" charset="0"/>
              </a:rPr>
              <a:t>servoMiddleFinger.write</a:t>
            </a:r>
            <a:r>
              <a:rPr lang="en-US" sz="2000" dirty="0">
                <a:effectLst/>
                <a:latin typeface="Times New Roman" panose="02020603050405020304" pitchFamily="18" charset="0"/>
                <a:cs typeface="Times New Roman" panose="02020603050405020304" pitchFamily="18" charset="0"/>
              </a:rPr>
              <a:t>(170);}// Middle finger</a:t>
            </a:r>
          </a:p>
          <a:p>
            <a:pPr algn="l" rtl="0" fontAlgn="base"/>
            <a:r>
              <a:rPr lang="en-US" sz="2000" dirty="0">
                <a:effectLst/>
                <a:latin typeface="Times New Roman" panose="02020603050405020304" pitchFamily="18" charset="0"/>
                <a:cs typeface="Times New Roman" panose="02020603050405020304" pitchFamily="18" charset="0"/>
              </a:rPr>
              <a:t>  else if(finger==INDEX){</a:t>
            </a:r>
            <a:r>
              <a:rPr lang="en-US" sz="2000" dirty="0" err="1">
                <a:effectLst/>
                <a:latin typeface="Times New Roman" panose="02020603050405020304" pitchFamily="18" charset="0"/>
                <a:cs typeface="Times New Roman" panose="02020603050405020304" pitchFamily="18" charset="0"/>
              </a:rPr>
              <a:t>servoIndexFinger.write</a:t>
            </a:r>
            <a:r>
              <a:rPr lang="en-US" sz="2000" dirty="0">
                <a:effectLst/>
                <a:latin typeface="Times New Roman" panose="02020603050405020304" pitchFamily="18" charset="0"/>
                <a:cs typeface="Times New Roman" panose="02020603050405020304" pitchFamily="18" charset="0"/>
              </a:rPr>
              <a:t>(170);}// Index finger</a:t>
            </a:r>
          </a:p>
          <a:p>
            <a:pPr algn="l" rtl="0" fontAlgn="base"/>
            <a:r>
              <a:rPr lang="en-US" sz="2000" dirty="0">
                <a:effectLst/>
                <a:latin typeface="Times New Roman" panose="02020603050405020304" pitchFamily="18" charset="0"/>
                <a:cs typeface="Times New Roman" panose="02020603050405020304" pitchFamily="18" charset="0"/>
              </a:rPr>
              <a:t>  else if(finger==THUMB){</a:t>
            </a:r>
            <a:r>
              <a:rPr lang="en-US" sz="2000" dirty="0" err="1">
                <a:effectLst/>
                <a:latin typeface="Times New Roman" panose="02020603050405020304" pitchFamily="18" charset="0"/>
                <a:cs typeface="Times New Roman" panose="02020603050405020304" pitchFamily="18" charset="0"/>
              </a:rPr>
              <a:t>servoThumbFinger.write</a:t>
            </a:r>
            <a:r>
              <a:rPr lang="en-US" sz="2000" dirty="0">
                <a:effectLst/>
                <a:latin typeface="Times New Roman" panose="02020603050405020304" pitchFamily="18" charset="0"/>
                <a:cs typeface="Times New Roman" panose="02020603050405020304" pitchFamily="18" charset="0"/>
              </a:rPr>
              <a:t>(0);}//Thumb finger</a:t>
            </a:r>
          </a:p>
          <a:p>
            <a:pPr algn="l" fontAlgn="base"/>
            <a:r>
              <a:rPr lang="en-US" sz="2000" dirty="0">
                <a:effectLst/>
                <a:latin typeface="Times New Roman" panose="02020603050405020304" pitchFamily="18" charset="0"/>
                <a:cs typeface="Times New Roman" panose="02020603050405020304" pitchFamily="18" charset="0"/>
              </a:rPr>
              <a:t>}</a:t>
            </a:r>
          </a:p>
          <a:p>
            <a:br>
              <a:rPr lang="en-US" sz="2000" dirty="0">
                <a:effectLst/>
                <a:latin typeface="var(--ricos-custom-p-font-family,unset)"/>
              </a:rPr>
            </a:br>
            <a:endParaRPr lang="en-US" sz="2000" dirty="0"/>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3375" y="316871"/>
            <a:ext cx="12128626" cy="7016115"/>
          </a:xfrm>
          <a:prstGeom prst="rect">
            <a:avLst/>
          </a:prstGeom>
          <a:noFill/>
        </p:spPr>
        <p:txBody>
          <a:bodyPr wrap="square">
            <a:spAutoFit/>
          </a:bodyPr>
          <a:lstStyle/>
          <a:p>
            <a:pPr algn="l" rtl="0" fontAlgn="base"/>
            <a:r>
              <a:rPr lang="en-US" dirty="0">
                <a:effectLst/>
                <a:latin typeface="Times New Roman" panose="02020603050405020304" pitchFamily="18" charset="0"/>
                <a:cs typeface="Times New Roman" panose="02020603050405020304" pitchFamily="18" charset="0"/>
              </a:rPr>
              <a:t>void </a:t>
            </a:r>
            <a:r>
              <a:rPr lang="en-US" dirty="0" err="1">
                <a:effectLst/>
                <a:latin typeface="Times New Roman" panose="02020603050405020304" pitchFamily="18" charset="0"/>
                <a:cs typeface="Times New Roman" panose="02020603050405020304" pitchFamily="18" charset="0"/>
              </a:rPr>
              <a:t>closeFinger</a:t>
            </a:r>
            <a:r>
              <a:rPr lang="en-US" dirty="0">
                <a:effectLst/>
                <a:latin typeface="Times New Roman" panose="02020603050405020304" pitchFamily="18" charset="0"/>
                <a:cs typeface="Times New Roman" panose="02020603050405020304" pitchFamily="18" charset="0"/>
              </a:rPr>
              <a:t>(int finger){</a:t>
            </a:r>
          </a:p>
          <a:p>
            <a:pPr algn="l" rtl="0" fontAlgn="base"/>
            <a:r>
              <a:rPr lang="en-US" dirty="0">
                <a:effectLst/>
                <a:latin typeface="Times New Roman" panose="02020603050405020304" pitchFamily="18" charset="0"/>
                <a:cs typeface="Times New Roman" panose="02020603050405020304" pitchFamily="18" charset="0"/>
              </a:rPr>
              <a:t>  if(finger==LITTLE){</a:t>
            </a:r>
            <a:r>
              <a:rPr lang="en-US" dirty="0" err="1">
                <a:effectLst/>
                <a:latin typeface="Times New Roman" panose="02020603050405020304" pitchFamily="18" charset="0"/>
                <a:cs typeface="Times New Roman" panose="02020603050405020304" pitchFamily="18" charset="0"/>
              </a:rPr>
              <a:t>servoLittleFinger.write</a:t>
            </a:r>
            <a:r>
              <a:rPr lang="en-US" dirty="0">
                <a:effectLst/>
                <a:latin typeface="Times New Roman" panose="02020603050405020304" pitchFamily="18" charset="0"/>
                <a:cs typeface="Times New Roman" panose="02020603050405020304" pitchFamily="18" charset="0"/>
              </a:rPr>
              <a:t>(170);} // Little finger </a:t>
            </a:r>
          </a:p>
          <a:p>
            <a:pPr algn="l" rtl="0" fontAlgn="base"/>
            <a:r>
              <a:rPr lang="en-US" dirty="0">
                <a:effectLst/>
                <a:latin typeface="Times New Roman" panose="02020603050405020304" pitchFamily="18" charset="0"/>
                <a:cs typeface="Times New Roman" panose="02020603050405020304" pitchFamily="18" charset="0"/>
              </a:rPr>
              <a:t>  else if(finger==RING){</a:t>
            </a:r>
            <a:r>
              <a:rPr lang="en-US" dirty="0" err="1">
                <a:effectLst/>
                <a:latin typeface="Times New Roman" panose="02020603050405020304" pitchFamily="18" charset="0"/>
                <a:cs typeface="Times New Roman" panose="02020603050405020304" pitchFamily="18" charset="0"/>
              </a:rPr>
              <a:t>servoRingFinger.write</a:t>
            </a:r>
            <a:r>
              <a:rPr lang="en-US" dirty="0">
                <a:effectLst/>
                <a:latin typeface="Times New Roman" panose="02020603050405020304" pitchFamily="18" charset="0"/>
                <a:cs typeface="Times New Roman" panose="02020603050405020304" pitchFamily="18" charset="0"/>
              </a:rPr>
              <a:t>(0);}// Ring finger</a:t>
            </a:r>
          </a:p>
          <a:p>
            <a:pPr algn="l" rtl="0" fontAlgn="base"/>
            <a:r>
              <a:rPr lang="en-US" dirty="0">
                <a:effectLst/>
                <a:latin typeface="Times New Roman" panose="02020603050405020304" pitchFamily="18" charset="0"/>
                <a:cs typeface="Times New Roman" panose="02020603050405020304" pitchFamily="18" charset="0"/>
              </a:rPr>
              <a:t>  else if(finger==MIDDLE){</a:t>
            </a:r>
            <a:r>
              <a:rPr lang="en-US" dirty="0" err="1">
                <a:effectLst/>
                <a:latin typeface="Times New Roman" panose="02020603050405020304" pitchFamily="18" charset="0"/>
                <a:cs typeface="Times New Roman" panose="02020603050405020304" pitchFamily="18" charset="0"/>
              </a:rPr>
              <a:t>servoMiddleFinger.write</a:t>
            </a:r>
            <a:r>
              <a:rPr lang="en-US" dirty="0">
                <a:effectLst/>
                <a:latin typeface="Times New Roman" panose="02020603050405020304" pitchFamily="18" charset="0"/>
                <a:cs typeface="Times New Roman" panose="02020603050405020304" pitchFamily="18" charset="0"/>
              </a:rPr>
              <a:t>(0);}// Middle finger</a:t>
            </a:r>
          </a:p>
          <a:p>
            <a:pPr algn="l" rtl="0" fontAlgn="base"/>
            <a:r>
              <a:rPr lang="en-US" dirty="0">
                <a:effectLst/>
                <a:latin typeface="Times New Roman" panose="02020603050405020304" pitchFamily="18" charset="0"/>
                <a:cs typeface="Times New Roman" panose="02020603050405020304" pitchFamily="18" charset="0"/>
              </a:rPr>
              <a:t>  else if(finger==INDEX){</a:t>
            </a:r>
            <a:r>
              <a:rPr lang="en-US" dirty="0" err="1">
                <a:effectLst/>
                <a:latin typeface="Times New Roman" panose="02020603050405020304" pitchFamily="18" charset="0"/>
                <a:cs typeface="Times New Roman" panose="02020603050405020304" pitchFamily="18" charset="0"/>
              </a:rPr>
              <a:t>servoIndexFinger.write</a:t>
            </a:r>
            <a:r>
              <a:rPr lang="en-US" dirty="0">
                <a:effectLst/>
                <a:latin typeface="Times New Roman" panose="02020603050405020304" pitchFamily="18" charset="0"/>
                <a:cs typeface="Times New Roman" panose="02020603050405020304" pitchFamily="18" charset="0"/>
              </a:rPr>
              <a:t>(0);}// Index finger</a:t>
            </a:r>
          </a:p>
          <a:p>
            <a:pPr algn="l" rtl="0" fontAlgn="base"/>
            <a:r>
              <a:rPr lang="en-US" dirty="0">
                <a:effectLst/>
                <a:latin typeface="Times New Roman" panose="02020603050405020304" pitchFamily="18" charset="0"/>
                <a:cs typeface="Times New Roman" panose="02020603050405020304" pitchFamily="18" charset="0"/>
              </a:rPr>
              <a:t>  else if(finger==THUMB){</a:t>
            </a:r>
            <a:r>
              <a:rPr lang="en-US" dirty="0" err="1">
                <a:effectLst/>
                <a:latin typeface="Times New Roman" panose="02020603050405020304" pitchFamily="18" charset="0"/>
                <a:cs typeface="Times New Roman" panose="02020603050405020304" pitchFamily="18" charset="0"/>
              </a:rPr>
              <a:t>servoThumbFinger.write</a:t>
            </a:r>
            <a:r>
              <a:rPr lang="en-US" dirty="0">
                <a:effectLst/>
                <a:latin typeface="Times New Roman" panose="02020603050405020304" pitchFamily="18" charset="0"/>
                <a:cs typeface="Times New Roman" panose="02020603050405020304" pitchFamily="18" charset="0"/>
              </a:rPr>
              <a:t>(170);}//Thumb finger</a:t>
            </a:r>
          </a:p>
          <a:p>
            <a:pPr algn="l" fontAlgn="base"/>
            <a:r>
              <a:rPr lang="en-US" dirty="0">
                <a:effectLst/>
                <a:latin typeface="Times New Roman" panose="02020603050405020304" pitchFamily="18" charset="0"/>
                <a:cs typeface="Times New Roman" panose="02020603050405020304" pitchFamily="18" charset="0"/>
              </a:rPr>
              <a:t>}</a:t>
            </a:r>
          </a:p>
          <a:p>
            <a:pPr algn="l" fontAlgn="base"/>
            <a:br>
              <a:rPr lang="en-US" dirty="0">
                <a:effectLst/>
                <a:latin typeface="Times New Roman" panose="02020603050405020304" pitchFamily="18" charset="0"/>
                <a:cs typeface="Times New Roman" panose="02020603050405020304" pitchFamily="18" charset="0"/>
              </a:rPr>
            </a:br>
            <a:endParaRPr lang="en-US" dirty="0">
              <a:effectLst/>
              <a:latin typeface="Times New Roman" panose="02020603050405020304" pitchFamily="18" charset="0"/>
              <a:cs typeface="Times New Roman" panose="02020603050405020304" pitchFamily="18" charset="0"/>
            </a:endParaRPr>
          </a:p>
          <a:p>
            <a:pPr algn="l" rtl="0" fontAlgn="base"/>
            <a:r>
              <a:rPr lang="en-US" dirty="0">
                <a:effectLst/>
                <a:latin typeface="Times New Roman" panose="02020603050405020304" pitchFamily="18" charset="0"/>
                <a:cs typeface="Times New Roman" panose="02020603050405020304" pitchFamily="18" charset="0"/>
              </a:rPr>
              <a:t>void setup(){</a:t>
            </a:r>
          </a:p>
          <a:p>
            <a:pPr algn="l" fontAlgn="base"/>
            <a:r>
              <a:rPr lang="en-US" dirty="0">
                <a:effectLst/>
                <a:latin typeface="Times New Roman" panose="02020603050405020304" pitchFamily="18" charset="0"/>
                <a:cs typeface="Times New Roman" panose="02020603050405020304" pitchFamily="18" charset="0"/>
              </a:rPr>
              <a:t>  </a:t>
            </a:r>
          </a:p>
          <a:p>
            <a:pPr algn="l" rtl="0" fontAlgn="base"/>
            <a:r>
              <a:rPr lang="en-US" dirty="0">
                <a:effectLst/>
                <a:latin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cs typeface="Times New Roman" panose="02020603050405020304" pitchFamily="18" charset="0"/>
              </a:rPr>
              <a:t>Serial.begin</a:t>
            </a:r>
            <a:r>
              <a:rPr lang="en-US" dirty="0">
                <a:effectLst/>
                <a:latin typeface="Times New Roman" panose="02020603050405020304" pitchFamily="18" charset="0"/>
                <a:cs typeface="Times New Roman" panose="02020603050405020304" pitchFamily="18" charset="0"/>
              </a:rPr>
              <a:t>(115200); //BAUDRATE set to 115200, remember it to set monitor serial properly (used this </a:t>
            </a:r>
            <a:r>
              <a:rPr lang="en-US" dirty="0" err="1">
                <a:effectLst/>
                <a:latin typeface="Times New Roman" panose="02020603050405020304" pitchFamily="18" charset="0"/>
                <a:cs typeface="Times New Roman" panose="02020603050405020304" pitchFamily="18" charset="0"/>
              </a:rPr>
              <a:t>BaudRate</a:t>
            </a:r>
            <a:r>
              <a:rPr lang="en-US" dirty="0">
                <a:effectLst/>
                <a:latin typeface="Times New Roman" panose="02020603050405020304" pitchFamily="18" charset="0"/>
                <a:cs typeface="Times New Roman" panose="02020603050405020304" pitchFamily="18" charset="0"/>
              </a:rPr>
              <a:t> and "NL&amp;CR" option to visualize the values correctly)</a:t>
            </a:r>
          </a:p>
          <a:p>
            <a:pPr algn="l" fontAlgn="base"/>
            <a:br>
              <a:rPr lang="en-US" dirty="0">
                <a:effectLst/>
                <a:latin typeface="Times New Roman" panose="02020603050405020304" pitchFamily="18" charset="0"/>
                <a:cs typeface="Times New Roman" panose="02020603050405020304" pitchFamily="18" charset="0"/>
              </a:rPr>
            </a:br>
            <a:endParaRPr lang="en-US" dirty="0">
              <a:effectLst/>
              <a:latin typeface="Times New Roman" panose="02020603050405020304" pitchFamily="18" charset="0"/>
              <a:cs typeface="Times New Roman" panose="02020603050405020304" pitchFamily="18" charset="0"/>
            </a:endParaRPr>
          </a:p>
          <a:p>
            <a:pPr algn="l" rtl="0" fontAlgn="base"/>
            <a:r>
              <a:rPr lang="en-US" dirty="0">
                <a:effectLst/>
                <a:latin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cs typeface="Times New Roman" panose="02020603050405020304" pitchFamily="18" charset="0"/>
              </a:rPr>
              <a:t>servoLittleFinger.attach</a:t>
            </a:r>
            <a:r>
              <a:rPr lang="en-US" dirty="0">
                <a:effectLst/>
                <a:latin typeface="Times New Roman" panose="02020603050405020304" pitchFamily="18" charset="0"/>
                <a:cs typeface="Times New Roman" panose="02020603050405020304" pitchFamily="18" charset="0"/>
              </a:rPr>
              <a:t>(LITTLEPIN); // Set Little finger servo to digital pin 3</a:t>
            </a:r>
          </a:p>
          <a:p>
            <a:pPr algn="l" rtl="0" fontAlgn="base"/>
            <a:r>
              <a:rPr lang="en-US" dirty="0">
                <a:effectLst/>
                <a:latin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cs typeface="Times New Roman" panose="02020603050405020304" pitchFamily="18" charset="0"/>
              </a:rPr>
              <a:t>servoRingFinger.attach</a:t>
            </a:r>
            <a:r>
              <a:rPr lang="en-US" dirty="0">
                <a:effectLst/>
                <a:latin typeface="Times New Roman" panose="02020603050405020304" pitchFamily="18" charset="0"/>
                <a:cs typeface="Times New Roman" panose="02020603050405020304" pitchFamily="18" charset="0"/>
              </a:rPr>
              <a:t>(RINGPIN); // Set Ring finger servo to digital pin 5</a:t>
            </a:r>
          </a:p>
          <a:p>
            <a:pPr algn="l" rtl="0" fontAlgn="base"/>
            <a:r>
              <a:rPr lang="en-US" dirty="0">
                <a:effectLst/>
                <a:latin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cs typeface="Times New Roman" panose="02020603050405020304" pitchFamily="18" charset="0"/>
              </a:rPr>
              <a:t>servoMiddleFinger.attach</a:t>
            </a:r>
            <a:r>
              <a:rPr lang="en-US" dirty="0">
                <a:effectLst/>
                <a:latin typeface="Times New Roman" panose="02020603050405020304" pitchFamily="18" charset="0"/>
                <a:cs typeface="Times New Roman" panose="02020603050405020304" pitchFamily="18" charset="0"/>
              </a:rPr>
              <a:t>(MIDDLEPIN); // Set Middle finger servo to digital pin 6</a:t>
            </a:r>
          </a:p>
          <a:p>
            <a:pPr algn="l" rtl="0" fontAlgn="base"/>
            <a:r>
              <a:rPr lang="en-US" dirty="0">
                <a:effectLst/>
                <a:latin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cs typeface="Times New Roman" panose="02020603050405020304" pitchFamily="18" charset="0"/>
              </a:rPr>
              <a:t>servoIndexFinger.attach</a:t>
            </a:r>
            <a:r>
              <a:rPr lang="en-US" dirty="0">
                <a:effectLst/>
                <a:latin typeface="Times New Roman" panose="02020603050405020304" pitchFamily="18" charset="0"/>
                <a:cs typeface="Times New Roman" panose="02020603050405020304" pitchFamily="18" charset="0"/>
              </a:rPr>
              <a:t>(INDEXPIN); // Set Index finger servo to digital pin 9</a:t>
            </a:r>
          </a:p>
          <a:p>
            <a:pPr algn="l" rtl="0" fontAlgn="base"/>
            <a:r>
              <a:rPr lang="en-US" dirty="0">
                <a:effectLst/>
                <a:latin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cs typeface="Times New Roman" panose="02020603050405020304" pitchFamily="18" charset="0"/>
              </a:rPr>
              <a:t>servoThumbFinger.attach</a:t>
            </a:r>
            <a:r>
              <a:rPr lang="en-US" dirty="0">
                <a:effectLst/>
                <a:latin typeface="Times New Roman" panose="02020603050405020304" pitchFamily="18" charset="0"/>
                <a:cs typeface="Times New Roman" panose="02020603050405020304" pitchFamily="18" charset="0"/>
              </a:rPr>
              <a:t>(THUMBPIN); // Set Thumb finger servo to digital pin 10</a:t>
            </a:r>
          </a:p>
          <a:p>
            <a:pPr algn="l" fontAlgn="base"/>
            <a:br>
              <a:rPr lang="en-US" dirty="0">
                <a:effectLst/>
                <a:latin typeface="Times New Roman" panose="02020603050405020304" pitchFamily="18" charset="0"/>
                <a:cs typeface="Times New Roman" panose="02020603050405020304" pitchFamily="18" charset="0"/>
              </a:rPr>
            </a:br>
            <a:endParaRPr lang="en-US" dirty="0">
              <a:effectLst/>
              <a:latin typeface="Times New Roman" panose="02020603050405020304" pitchFamily="18" charset="0"/>
              <a:cs typeface="Times New Roman" panose="02020603050405020304" pitchFamily="18" charset="0"/>
            </a:endParaRPr>
          </a:p>
          <a:p>
            <a:pPr algn="l" rtl="0" fontAlgn="base"/>
            <a:r>
              <a:rPr lang="en-US" dirty="0">
                <a:effectLst/>
                <a:latin typeface="Times New Roman" panose="02020603050405020304" pitchFamily="18" charset="0"/>
                <a:cs typeface="Times New Roman" panose="02020603050405020304" pitchFamily="18" charset="0"/>
              </a:rPr>
              <a:t>}//end setup</a:t>
            </a:r>
          </a:p>
          <a:p>
            <a:br>
              <a:rPr lang="en-US"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7055" y="299129"/>
            <a:ext cx="12004895" cy="3784600"/>
          </a:xfrm>
          <a:prstGeom prst="rect">
            <a:avLst/>
          </a:prstGeom>
          <a:noFill/>
        </p:spPr>
        <p:txBody>
          <a:bodyPr wrap="square">
            <a:spAutoFit/>
          </a:bodyPr>
          <a:lstStyle/>
          <a:p>
            <a:pPr algn="l" rtl="0" fontAlgn="base"/>
            <a:r>
              <a:rPr lang="en-US" sz="2000" i="0" dirty="0">
                <a:effectLst/>
                <a:latin typeface="Times New Roman" panose="02020603050405020304" pitchFamily="18" charset="0"/>
                <a:cs typeface="Times New Roman" panose="02020603050405020304" pitchFamily="18" charset="0"/>
              </a:rPr>
              <a:t>void loop() {// Nothing to do here, all is done in the interrupt function</a:t>
            </a:r>
          </a:p>
          <a:p>
            <a:pPr algn="l" fontAlgn="base"/>
            <a:br>
              <a:rPr lang="en-US" sz="2000" i="0" dirty="0">
                <a:effectLst/>
                <a:latin typeface="Times New Roman" panose="02020603050405020304" pitchFamily="18" charset="0"/>
                <a:cs typeface="Times New Roman" panose="02020603050405020304" pitchFamily="18" charset="0"/>
              </a:rPr>
            </a:br>
            <a:endParaRPr lang="en-US" sz="2000" i="0" dirty="0">
              <a:effectLst/>
              <a:latin typeface="Times New Roman" panose="02020603050405020304" pitchFamily="18" charset="0"/>
              <a:cs typeface="Times New Roman" panose="02020603050405020304" pitchFamily="18" charset="0"/>
            </a:endParaRPr>
          </a:p>
          <a:p>
            <a:pPr algn="l" rtl="0" fontAlgn="base"/>
            <a:r>
              <a:rPr lang="en-US" sz="2000" i="0" dirty="0">
                <a:effectLst/>
                <a:latin typeface="Times New Roman" panose="02020603050405020304" pitchFamily="18" charset="0"/>
                <a:cs typeface="Times New Roman" panose="02020603050405020304" pitchFamily="18" charset="0"/>
              </a:rPr>
              <a:t>  int value = </a:t>
            </a:r>
            <a:r>
              <a:rPr lang="en-US" sz="2000" i="0" dirty="0" err="1">
                <a:effectLst/>
                <a:latin typeface="Times New Roman" panose="02020603050405020304" pitchFamily="18" charset="0"/>
                <a:cs typeface="Times New Roman" panose="02020603050405020304" pitchFamily="18" charset="0"/>
              </a:rPr>
              <a:t>analogRead</a:t>
            </a:r>
            <a:r>
              <a:rPr lang="en-US" sz="2000" i="0" dirty="0">
                <a:effectLst/>
                <a:latin typeface="Times New Roman" panose="02020603050405020304" pitchFamily="18" charset="0"/>
                <a:cs typeface="Times New Roman" panose="02020603050405020304" pitchFamily="18" charset="0"/>
              </a:rPr>
              <a:t>(EMGPIN); //Sampling analog signal</a:t>
            </a:r>
          </a:p>
          <a:p>
            <a:pPr algn="l" rtl="0" fontAlgn="base"/>
            <a:r>
              <a:rPr lang="en-US" sz="2000" i="0" dirty="0">
                <a:effectLst/>
                <a:latin typeface="Times New Roman" panose="02020603050405020304" pitchFamily="18" charset="0"/>
                <a:cs typeface="Times New Roman" panose="02020603050405020304" pitchFamily="18" charset="0"/>
              </a:rPr>
              <a:t>  if(value&gt;THRESHOLD) //If the value of the sample is greater than THRESHOLD means that the hand has been closed</a:t>
            </a:r>
          </a:p>
          <a:p>
            <a:pPr algn="l" rtl="0" fontAlgn="base"/>
            <a:r>
              <a:rPr lang="en-US" sz="2000" i="0" dirty="0">
                <a:effectLst/>
                <a:latin typeface="Times New Roman" panose="02020603050405020304" pitchFamily="18" charset="0"/>
                <a:cs typeface="Times New Roman" panose="02020603050405020304" pitchFamily="18" charset="0"/>
              </a:rPr>
              <a:t>  {</a:t>
            </a:r>
            <a:r>
              <a:rPr lang="en-US" sz="2000" i="0" dirty="0" err="1">
                <a:effectLst/>
                <a:latin typeface="Times New Roman" panose="02020603050405020304" pitchFamily="18" charset="0"/>
                <a:cs typeface="Times New Roman" panose="02020603050405020304" pitchFamily="18" charset="0"/>
              </a:rPr>
              <a:t>closehand</a:t>
            </a:r>
            <a:r>
              <a:rPr lang="en-US" sz="2000" i="0" dirty="0">
                <a:effectLst/>
                <a:latin typeface="Times New Roman" panose="02020603050405020304" pitchFamily="18" charset="0"/>
                <a:cs typeface="Times New Roman" panose="02020603050405020304" pitchFamily="18" charset="0"/>
              </a:rPr>
              <a:t>();}</a:t>
            </a:r>
          </a:p>
          <a:p>
            <a:pPr algn="l" rtl="0" fontAlgn="base"/>
            <a:r>
              <a:rPr lang="en-US" sz="2000" i="0" dirty="0">
                <a:effectLst/>
                <a:latin typeface="Times New Roman" panose="02020603050405020304" pitchFamily="18" charset="0"/>
                <a:cs typeface="Times New Roman" panose="02020603050405020304" pitchFamily="18" charset="0"/>
              </a:rPr>
              <a:t>  else //Otherwise the hand is open</a:t>
            </a:r>
          </a:p>
          <a:p>
            <a:pPr algn="l" rtl="0" fontAlgn="base"/>
            <a:r>
              <a:rPr lang="en-US" sz="2000" i="0" dirty="0">
                <a:effectLst/>
                <a:latin typeface="Times New Roman" panose="02020603050405020304" pitchFamily="18" charset="0"/>
                <a:cs typeface="Times New Roman" panose="02020603050405020304" pitchFamily="18" charset="0"/>
              </a:rPr>
              <a:t>  {openhand();}</a:t>
            </a:r>
          </a:p>
          <a:p>
            <a:pPr algn="l" rtl="0" fontAlgn="base"/>
            <a:r>
              <a:rPr lang="en-US" sz="2000" i="0" dirty="0">
                <a:effectLst/>
                <a:latin typeface="Times New Roman" panose="02020603050405020304" pitchFamily="18" charset="0"/>
                <a:cs typeface="Times New Roman" panose="02020603050405020304" pitchFamily="18" charset="0"/>
              </a:rPr>
              <a:t>  </a:t>
            </a:r>
            <a:r>
              <a:rPr lang="en-US" sz="2000" i="0" dirty="0" err="1">
                <a:effectLst/>
                <a:latin typeface="Times New Roman" panose="02020603050405020304" pitchFamily="18" charset="0"/>
                <a:cs typeface="Times New Roman" panose="02020603050405020304" pitchFamily="18" charset="0"/>
              </a:rPr>
              <a:t>Serial.println</a:t>
            </a:r>
            <a:r>
              <a:rPr lang="en-US" sz="2000" i="0" dirty="0">
                <a:effectLst/>
                <a:latin typeface="Times New Roman" panose="02020603050405020304" pitchFamily="18" charset="0"/>
                <a:cs typeface="Times New Roman" panose="02020603050405020304" pitchFamily="18" charset="0"/>
              </a:rPr>
              <a:t>(value); //You can use serial monitor to set THRESHOLD properly, comparing the values shown when you open and close your hand</a:t>
            </a:r>
          </a:p>
          <a:p>
            <a:pPr algn="l" fontAlgn="base"/>
            <a:r>
              <a:rPr lang="en-US" sz="2000" i="0" dirty="0">
                <a:effectLst/>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98975" y="2921635"/>
            <a:ext cx="3565525" cy="1014730"/>
          </a:xfrm>
          <a:prstGeom prst="rect">
            <a:avLst/>
          </a:prstGeom>
          <a:noFill/>
        </p:spPr>
        <p:txBody>
          <a:bodyPr wrap="square" rtlCol="0">
            <a:spAutoFit/>
          </a:bodyPr>
          <a:lstStyle/>
          <a:p>
            <a:r>
              <a:rPr lang="en-US" sz="6000" dirty="0"/>
              <a:t>THE END…</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1281</Words>
  <Application>Microsoft Office PowerPoint</Application>
  <PresentationFormat>Widescreen</PresentationFormat>
  <Paragraphs>154</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var(--ricos-custom-p-font-family,unset)</vt:lpstr>
      <vt:lpstr>Office Theme</vt:lpstr>
      <vt:lpstr>PowerPoint Presentation</vt:lpstr>
      <vt:lpstr>PowerPoint Presentation</vt:lpstr>
      <vt:lpstr>SELECTED THEME: ROBOTICS</vt:lpstr>
      <vt:lpstr>RELATION TO PROJECT</vt:lpstr>
      <vt:lpstr>PowerPoint Presentation</vt:lpstr>
      <vt:lpstr>PowerPoint Presentation</vt:lpstr>
      <vt:lpstr>COMPONENTS:-</vt:lpstr>
      <vt:lpstr>PowerPoint Presentation</vt:lpstr>
      <vt:lpstr>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Tejasri penubothu</dc:creator>
  <cp:lastModifiedBy>PENUBOTHU VISHNUSAI</cp:lastModifiedBy>
  <cp:revision>4</cp:revision>
  <dcterms:created xsi:type="dcterms:W3CDTF">2024-03-08T02:50:00Z</dcterms:created>
  <dcterms:modified xsi:type="dcterms:W3CDTF">2026-03-30T06:21:40Z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7FE59F7414CB44D9854D89B3F3DE5936</vt:lpwstr>
  </property>
  <property fmtid="{D5CDD505-2E9C-101B-9397-08002B2CF9AE}" pid="3" name="KSOProductBuildVer">
    <vt:lpwstr>1033-11.2.0.11225</vt:lpwstr>
  </property>
</Properties>
</file>