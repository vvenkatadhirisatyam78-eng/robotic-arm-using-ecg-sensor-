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1"/>
  </p:notesMasterIdLst>
  <p:sldIdLst>
    <p:sldId id="316" r:id="rId2"/>
    <p:sldId id="257" r:id="rId3"/>
    <p:sldId id="258" r:id="rId4"/>
    <p:sldId id="259" r:id="rId5"/>
    <p:sldId id="260" r:id="rId6"/>
    <p:sldId id="286" r:id="rId7"/>
    <p:sldId id="262" r:id="rId8"/>
    <p:sldId id="261" r:id="rId9"/>
    <p:sldId id="263" r:id="rId10"/>
    <p:sldId id="264" r:id="rId11"/>
    <p:sldId id="265" r:id="rId12"/>
    <p:sldId id="266" r:id="rId13"/>
    <p:sldId id="267" r:id="rId14"/>
    <p:sldId id="268" r:id="rId15"/>
    <p:sldId id="269" r:id="rId16"/>
    <p:sldId id="315" r:id="rId17"/>
    <p:sldId id="270" r:id="rId18"/>
    <p:sldId id="271" r:id="rId19"/>
    <p:sldId id="279"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EE6439A-C8E5-47EF-80C1-A622605744D0}" v="2" dt="2026-03-30T06:07:22.724"/>
  </p1510:revLst>
</p1510:revInfo>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72" d="100"/>
          <a:sy n="72" d="100"/>
        </p:scale>
        <p:origin x="91" y="2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ENUBOTHU VISHNUSAI" userId="173acc566a020f74" providerId="LiveId" clId="{3F1737FB-544E-4FD4-8BD3-F2B226878669}"/>
    <pc:docChg chg="undo custSel addSld delSld modSld sldOrd">
      <pc:chgData name="PENUBOTHU VISHNUSAI" userId="173acc566a020f74" providerId="LiveId" clId="{3F1737FB-544E-4FD4-8BD3-F2B226878669}" dt="2026-03-30T06:10:52.136" v="31" actId="1076"/>
      <pc:docMkLst>
        <pc:docMk/>
      </pc:docMkLst>
      <pc:sldChg chg="del">
        <pc:chgData name="PENUBOTHU VISHNUSAI" userId="173acc566a020f74" providerId="LiveId" clId="{3F1737FB-544E-4FD4-8BD3-F2B226878669}" dt="2026-03-30T06:06:21.119" v="0" actId="2696"/>
        <pc:sldMkLst>
          <pc:docMk/>
          <pc:sldMk cId="0" sldId="256"/>
        </pc:sldMkLst>
      </pc:sldChg>
      <pc:sldChg chg="modSp mod">
        <pc:chgData name="PENUBOTHU VISHNUSAI" userId="173acc566a020f74" providerId="LiveId" clId="{3F1737FB-544E-4FD4-8BD3-F2B226878669}" dt="2026-03-30T06:10:52.136" v="31" actId="1076"/>
        <pc:sldMkLst>
          <pc:docMk/>
          <pc:sldMk cId="0" sldId="271"/>
        </pc:sldMkLst>
        <pc:spChg chg="mod">
          <ac:chgData name="PENUBOTHU VISHNUSAI" userId="173acc566a020f74" providerId="LiveId" clId="{3F1737FB-544E-4FD4-8BD3-F2B226878669}" dt="2026-03-30T06:10:52.136" v="31" actId="1076"/>
          <ac:spMkLst>
            <pc:docMk/>
            <pc:sldMk cId="0" sldId="271"/>
            <ac:spMk id="2" creationId="{00000000-0000-0000-0000-000000000000}"/>
          </ac:spMkLst>
        </pc:spChg>
      </pc:sldChg>
      <pc:sldChg chg="del">
        <pc:chgData name="PENUBOTHU VISHNUSAI" userId="173acc566a020f74" providerId="LiveId" clId="{3F1737FB-544E-4FD4-8BD3-F2B226878669}" dt="2026-03-30T06:08:51.753" v="17" actId="47"/>
        <pc:sldMkLst>
          <pc:docMk/>
          <pc:sldMk cId="0" sldId="273"/>
        </pc:sldMkLst>
      </pc:sldChg>
      <pc:sldChg chg="del">
        <pc:chgData name="PENUBOTHU VISHNUSAI" userId="173acc566a020f74" providerId="LiveId" clId="{3F1737FB-544E-4FD4-8BD3-F2B226878669}" dt="2026-03-30T06:08:52.776" v="18" actId="47"/>
        <pc:sldMkLst>
          <pc:docMk/>
          <pc:sldMk cId="0" sldId="274"/>
        </pc:sldMkLst>
      </pc:sldChg>
      <pc:sldChg chg="del">
        <pc:chgData name="PENUBOTHU VISHNUSAI" userId="173acc566a020f74" providerId="LiveId" clId="{3F1737FB-544E-4FD4-8BD3-F2B226878669}" dt="2026-03-30T06:08:56.092" v="25" actId="47"/>
        <pc:sldMkLst>
          <pc:docMk/>
          <pc:sldMk cId="0" sldId="275"/>
        </pc:sldMkLst>
      </pc:sldChg>
      <pc:sldChg chg="del">
        <pc:chgData name="PENUBOTHU VISHNUSAI" userId="173acc566a020f74" providerId="LiveId" clId="{3F1737FB-544E-4FD4-8BD3-F2B226878669}" dt="2026-03-30T06:08:56.525" v="26" actId="47"/>
        <pc:sldMkLst>
          <pc:docMk/>
          <pc:sldMk cId="0" sldId="276"/>
        </pc:sldMkLst>
      </pc:sldChg>
      <pc:sldChg chg="del">
        <pc:chgData name="PENUBOTHU VISHNUSAI" userId="173acc566a020f74" providerId="LiveId" clId="{3F1737FB-544E-4FD4-8BD3-F2B226878669}" dt="2026-03-30T06:08:57.052" v="27" actId="47"/>
        <pc:sldMkLst>
          <pc:docMk/>
          <pc:sldMk cId="0" sldId="277"/>
        </pc:sldMkLst>
      </pc:sldChg>
      <pc:sldChg chg="del">
        <pc:chgData name="PENUBOTHU VISHNUSAI" userId="173acc566a020f74" providerId="LiveId" clId="{3F1737FB-544E-4FD4-8BD3-F2B226878669}" dt="2026-03-30T06:08:57.589" v="28" actId="47"/>
        <pc:sldMkLst>
          <pc:docMk/>
          <pc:sldMk cId="0" sldId="278"/>
        </pc:sldMkLst>
      </pc:sldChg>
      <pc:sldChg chg="add del">
        <pc:chgData name="PENUBOTHU VISHNUSAI" userId="173acc566a020f74" providerId="LiveId" clId="{3F1737FB-544E-4FD4-8BD3-F2B226878669}" dt="2026-03-30T06:09:00.296" v="30" actId="47"/>
        <pc:sldMkLst>
          <pc:docMk/>
          <pc:sldMk cId="0" sldId="279"/>
        </pc:sldMkLst>
      </pc:sldChg>
      <pc:sldChg chg="del">
        <pc:chgData name="PENUBOTHU VISHNUSAI" userId="173acc566a020f74" providerId="LiveId" clId="{3F1737FB-544E-4FD4-8BD3-F2B226878669}" dt="2026-03-30T06:08:54.201" v="21" actId="47"/>
        <pc:sldMkLst>
          <pc:docMk/>
          <pc:sldMk cId="0" sldId="280"/>
        </pc:sldMkLst>
      </pc:sldChg>
      <pc:sldChg chg="del">
        <pc:chgData name="PENUBOTHU VISHNUSAI" userId="173acc566a020f74" providerId="LiveId" clId="{3F1737FB-544E-4FD4-8BD3-F2B226878669}" dt="2026-03-30T06:08:55.115" v="23" actId="47"/>
        <pc:sldMkLst>
          <pc:docMk/>
          <pc:sldMk cId="0" sldId="281"/>
        </pc:sldMkLst>
      </pc:sldChg>
      <pc:sldChg chg="del">
        <pc:chgData name="PENUBOTHU VISHNUSAI" userId="173acc566a020f74" providerId="LiveId" clId="{3F1737FB-544E-4FD4-8BD3-F2B226878669}" dt="2026-03-30T06:08:55.608" v="24" actId="47"/>
        <pc:sldMkLst>
          <pc:docMk/>
          <pc:sldMk cId="0" sldId="282"/>
        </pc:sldMkLst>
      </pc:sldChg>
      <pc:sldChg chg="del">
        <pc:chgData name="PENUBOTHU VISHNUSAI" userId="173acc566a020f74" providerId="LiveId" clId="{3F1737FB-544E-4FD4-8BD3-F2B226878669}" dt="2026-03-30T06:08:54.691" v="22" actId="47"/>
        <pc:sldMkLst>
          <pc:docMk/>
          <pc:sldMk cId="0" sldId="283"/>
        </pc:sldMkLst>
      </pc:sldChg>
      <pc:sldChg chg="del">
        <pc:chgData name="PENUBOTHU VISHNUSAI" userId="173acc566a020f74" providerId="LiveId" clId="{3F1737FB-544E-4FD4-8BD3-F2B226878669}" dt="2026-03-30T06:08:53.583" v="19" actId="47"/>
        <pc:sldMkLst>
          <pc:docMk/>
          <pc:sldMk cId="0" sldId="284"/>
        </pc:sldMkLst>
      </pc:sldChg>
      <pc:sldChg chg="del">
        <pc:chgData name="PENUBOTHU VISHNUSAI" userId="173acc566a020f74" providerId="LiveId" clId="{3F1737FB-544E-4FD4-8BD3-F2B226878669}" dt="2026-03-30T06:08:53.921" v="20" actId="47"/>
        <pc:sldMkLst>
          <pc:docMk/>
          <pc:sldMk cId="0" sldId="285"/>
        </pc:sldMkLst>
      </pc:sldChg>
      <pc:sldChg chg="del">
        <pc:chgData name="PENUBOTHU VISHNUSAI" userId="173acc566a020f74" providerId="LiveId" clId="{3F1737FB-544E-4FD4-8BD3-F2B226878669}" dt="2026-03-30T06:06:26.024" v="1" actId="2696"/>
        <pc:sldMkLst>
          <pc:docMk/>
          <pc:sldMk cId="0" sldId="314"/>
        </pc:sldMkLst>
      </pc:sldChg>
      <pc:sldChg chg="addSp delSp modSp new mod ord">
        <pc:chgData name="PENUBOTHU VISHNUSAI" userId="173acc566a020f74" providerId="LiveId" clId="{3F1737FB-544E-4FD4-8BD3-F2B226878669}" dt="2026-03-30T06:07:50.572" v="16" actId="1076"/>
        <pc:sldMkLst>
          <pc:docMk/>
          <pc:sldMk cId="636202880" sldId="316"/>
        </pc:sldMkLst>
        <pc:spChg chg="add del mod">
          <ac:chgData name="PENUBOTHU VISHNUSAI" userId="173acc566a020f74" providerId="LiveId" clId="{3F1737FB-544E-4FD4-8BD3-F2B226878669}" dt="2026-03-30T06:06:52.730" v="7"/>
          <ac:spMkLst>
            <pc:docMk/>
            <pc:sldMk cId="636202880" sldId="316"/>
            <ac:spMk id="2" creationId="{D95FBF99-E312-909B-F01D-7235A25C4080}"/>
          </ac:spMkLst>
        </pc:spChg>
        <pc:spChg chg="add mod">
          <ac:chgData name="PENUBOTHU VISHNUSAI" userId="173acc566a020f74" providerId="LiveId" clId="{3F1737FB-544E-4FD4-8BD3-F2B226878669}" dt="2026-03-30T06:07:50.572" v="16" actId="1076"/>
          <ac:spMkLst>
            <pc:docMk/>
            <pc:sldMk cId="636202880" sldId="316"/>
            <ac:spMk id="4" creationId="{FA961939-72D2-21A6-CBA6-96AA11E8BD1D}"/>
          </ac:spMkLst>
        </pc:spChg>
        <pc:spChg chg="add del mod">
          <ac:chgData name="PENUBOTHU VISHNUSAI" userId="173acc566a020f74" providerId="LiveId" clId="{3F1737FB-544E-4FD4-8BD3-F2B226878669}" dt="2026-03-30T06:07:26.712" v="10" actId="21"/>
          <ac:spMkLst>
            <pc:docMk/>
            <pc:sldMk cId="636202880" sldId="316"/>
            <ac:spMk id="5" creationId="{BAEEC8AA-8D66-5914-F830-1FE88D21E834}"/>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t>3/30/2026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3/30/2026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3/30/2026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3/30/2026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t>3/30/2026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t>3/30/2026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t>3/30/2026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3/30/2026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3/30/2026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3/30/2026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3/30/2026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3/30/2026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3/30/2026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hyperlink" Target="https://www.roboticskanti.com/ourresarch/hashtags/include" TargetMode="External"/><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hyperlink" Target="https://www.roboticskanti.com/ourresarch/hashtags/define"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A961939-72D2-21A6-CBA6-96AA11E8BD1D}"/>
              </a:ext>
            </a:extLst>
          </p:cNvPr>
          <p:cNvSpPr txBox="1"/>
          <p:nvPr/>
        </p:nvSpPr>
        <p:spPr>
          <a:xfrm>
            <a:off x="1956391" y="3198167"/>
            <a:ext cx="8484780" cy="461665"/>
          </a:xfrm>
          <a:prstGeom prst="rect">
            <a:avLst/>
          </a:prstGeom>
          <a:noFill/>
        </p:spPr>
        <p:txBody>
          <a:bodyPr wrap="square">
            <a:spAutoFit/>
          </a:bodyPr>
          <a:lstStyle/>
          <a:p>
            <a:r>
              <a:rPr lang="en-US" sz="2400" b="1" dirty="0">
                <a:latin typeface="Times New Roman" panose="02020603050405020304"/>
                <a:cs typeface="Times New Roman" panose="02020603050405020304"/>
              </a:rPr>
              <a:t>ROBOTIC ARM BASED ON MUSCULAR MOVEMENTS</a:t>
            </a:r>
          </a:p>
        </p:txBody>
      </p:sp>
    </p:spTree>
    <p:extLst>
      <p:ext uri="{BB962C8B-B14F-4D97-AF65-F5344CB8AC3E}">
        <p14:creationId xmlns:p14="http://schemas.microsoft.com/office/powerpoint/2010/main" val="6362028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30682" y="342821"/>
            <a:ext cx="11297726"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US" sz="2400" b="1" dirty="0">
                <a:latin typeface="Times New Roman" panose="02020603050405020304"/>
                <a:cs typeface="Times New Roman" panose="02020603050405020304"/>
              </a:rPr>
              <a:t>SELECTED THEME:ROBOTIC HAND BASED ON MUSCULAR MOVEMENT</a:t>
            </a:r>
          </a:p>
        </p:txBody>
      </p:sp>
      <p:sp>
        <p:nvSpPr>
          <p:cNvPr id="6" name="TextBox 5"/>
          <p:cNvSpPr txBox="1"/>
          <p:nvPr/>
        </p:nvSpPr>
        <p:spPr>
          <a:xfrm>
            <a:off x="880533" y="1540933"/>
            <a:ext cx="10607614" cy="3730317"/>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pPr marL="285750" indent="-285750">
              <a:lnSpc>
                <a:spcPct val="150000"/>
              </a:lnSpc>
              <a:buFont typeface="Wingdings" panose="05000000000000000000"/>
              <a:buChar char="v"/>
            </a:pPr>
            <a:r>
              <a:rPr lang="en-US" sz="2000" dirty="0">
                <a:latin typeface="Times New Roman" panose="02020603050405020304"/>
                <a:cs typeface="Times New Roman" panose="02020603050405020304"/>
              </a:rPr>
              <a:t>There are 1.2 Billion people in </a:t>
            </a:r>
            <a:r>
              <a:rPr lang="en-US" sz="2000" err="1">
                <a:latin typeface="Times New Roman" panose="02020603050405020304"/>
                <a:cs typeface="Times New Roman" panose="02020603050405020304"/>
              </a:rPr>
              <a:t>india</a:t>
            </a:r>
            <a:r>
              <a:rPr lang="en-US" sz="2000" dirty="0">
                <a:latin typeface="Times New Roman" panose="02020603050405020304"/>
                <a:cs typeface="Times New Roman" panose="02020603050405020304"/>
              </a:rPr>
              <a:t> in that 2.1 percent i.e,21 million people are physically</a:t>
            </a:r>
            <a:endParaRPr lang="en-US" sz="2000">
              <a:latin typeface="Times New Roman" panose="02020603050405020304"/>
              <a:cs typeface="Times New Roman" panose="02020603050405020304"/>
            </a:endParaRPr>
          </a:p>
          <a:p>
            <a:pPr>
              <a:lnSpc>
                <a:spcPct val="150000"/>
              </a:lnSpc>
            </a:pPr>
            <a:r>
              <a:rPr lang="en-US" sz="2000" dirty="0">
                <a:latin typeface="Times New Roman" panose="02020603050405020304"/>
                <a:cs typeface="Times New Roman" panose="02020603050405020304"/>
              </a:rPr>
              <a:t> Handicapped. Among them half of the people below the poverty line who can't </a:t>
            </a:r>
            <a:r>
              <a:rPr lang="en-US" sz="2000" dirty="0" err="1">
                <a:latin typeface="Times New Roman" panose="02020603050405020304"/>
                <a:cs typeface="Times New Roman" panose="02020603050405020304"/>
              </a:rPr>
              <a:t>efford</a:t>
            </a:r>
            <a:r>
              <a:rPr lang="en-US" sz="2000" dirty="0">
                <a:latin typeface="Times New Roman" panose="02020603050405020304"/>
                <a:cs typeface="Times New Roman" panose="02020603050405020304"/>
              </a:rPr>
              <a:t> the implants are remaining unhappy due this disability. This robotic hand based on muscular movement  can help sort out their problems. due this physical disability they feel sad about their condition and fail to complete some of their daily needs . They feel very difficult to do things like holdingthings,eating,drinking</a:t>
            </a:r>
          </a:p>
          <a:p>
            <a:pPr>
              <a:lnSpc>
                <a:spcPct val="150000"/>
              </a:lnSpc>
            </a:pPr>
            <a:r>
              <a:rPr lang="en-US" sz="2000" dirty="0">
                <a:latin typeface="Times New Roman" panose="02020603050405020304"/>
                <a:cs typeface="Times New Roman" panose="02020603050405020304"/>
              </a:rPr>
              <a:t>Brushing etc....</a:t>
            </a:r>
          </a:p>
          <a:p>
            <a:pPr>
              <a:lnSpc>
                <a:spcPct val="150000"/>
              </a:lnSpc>
            </a:pPr>
            <a:endParaRPr lang="en-US" sz="2000" dirty="0">
              <a:latin typeface="Times New Roman" panose="02020603050405020304"/>
              <a:cs typeface="Times New Roman" panose="02020603050405020304"/>
            </a:endParaRPr>
          </a:p>
        </p:txBody>
      </p:sp>
      <p:sp>
        <p:nvSpPr>
          <p:cNvPr id="9" name="TextBox 8"/>
          <p:cNvSpPr txBox="1"/>
          <p:nvPr/>
        </p:nvSpPr>
        <p:spPr>
          <a:xfrm>
            <a:off x="695865" y="4866257"/>
            <a:ext cx="10090029" cy="1421992"/>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pPr marL="342900" indent="-342900">
              <a:lnSpc>
                <a:spcPct val="150000"/>
              </a:lnSpc>
              <a:buFont typeface="Wingdings" panose="05000000000000000000"/>
              <a:buChar char="v"/>
            </a:pPr>
            <a:r>
              <a:rPr lang="en-US" sz="2000" dirty="0">
                <a:latin typeface="Times New Roman" panose="02020603050405020304"/>
                <a:cs typeface="Times New Roman" panose="02020603050405020304"/>
              </a:rPr>
              <a:t>When we move or try to move our fingers and wrist certain muscles of the hand moves or  contract and release this very common mechanism of human body this mechansim we use as main key role of project . Which cost less and can be  </a:t>
            </a:r>
            <a:r>
              <a:rPr lang="en-US" sz="2000" dirty="0" err="1">
                <a:latin typeface="Times New Roman" panose="02020603050405020304"/>
                <a:cs typeface="Times New Roman" panose="02020603050405020304"/>
              </a:rPr>
              <a:t>effordable</a:t>
            </a:r>
            <a:r>
              <a:rPr lang="en-US" sz="2000" dirty="0">
                <a:latin typeface="Times New Roman" panose="02020603050405020304"/>
                <a:cs typeface="Times New Roman" panose="02020603050405020304"/>
              </a:rPr>
              <a:t> by the needs and poor</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hand pointing at a device&#10;&#10;Description automatically generated"/>
          <p:cNvPicPr>
            <a:picLocks noChangeAspect="1"/>
          </p:cNvPicPr>
          <p:nvPr/>
        </p:nvPicPr>
        <p:blipFill>
          <a:blip r:embed="rId2"/>
          <a:stretch>
            <a:fillRect/>
          </a:stretch>
        </p:blipFill>
        <p:spPr>
          <a:xfrm>
            <a:off x="546339" y="2390050"/>
            <a:ext cx="5664680" cy="3299976"/>
          </a:xfrm>
          <a:prstGeom prst="rect">
            <a:avLst/>
          </a:prstGeom>
        </p:spPr>
      </p:pic>
      <p:sp>
        <p:nvSpPr>
          <p:cNvPr id="3" name="TextBox 2"/>
          <p:cNvSpPr txBox="1"/>
          <p:nvPr/>
        </p:nvSpPr>
        <p:spPr>
          <a:xfrm>
            <a:off x="6869821" y="636757"/>
            <a:ext cx="4741651"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US" sz="2400" b="1" dirty="0">
                <a:latin typeface="Times New Roman" panose="02020603050405020304"/>
                <a:cs typeface="Times New Roman" panose="02020603050405020304"/>
              </a:rPr>
              <a:t>ROBOTIC HAND BASED ON MUSCULAR MOVEMENT:</a:t>
            </a:r>
          </a:p>
        </p:txBody>
      </p:sp>
      <p:sp>
        <p:nvSpPr>
          <p:cNvPr id="5" name="TextBox 4"/>
          <p:cNvSpPr txBox="1"/>
          <p:nvPr/>
        </p:nvSpPr>
        <p:spPr>
          <a:xfrm>
            <a:off x="6604000" y="1658189"/>
            <a:ext cx="5129841" cy="5576976"/>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pPr marL="285750" indent="-285750">
              <a:lnSpc>
                <a:spcPct val="150000"/>
              </a:lnSpc>
              <a:buFont typeface="Wingdings" panose="05000000000000000000"/>
              <a:buChar char="q"/>
            </a:pPr>
            <a:r>
              <a:rPr lang="en-US" sz="2000" dirty="0">
                <a:latin typeface="Times New Roman" panose="02020603050405020304"/>
                <a:cs typeface="Times New Roman" panose="02020603050405020304"/>
              </a:rPr>
              <a:t>The robotic hand present in the picture works on principle of muscular movements .there are ECG cable sensor are connected to our hand that detects the muscular movement and send the electric signals the circuit where the signals are read and understood and processed by ECG module and action takes place i.e, the servo motors connected to the circuit get the instructions and start to work according to our finger movement  or muscle movement   </a:t>
            </a:r>
            <a:endParaRPr lang="en-US" dirty="0"/>
          </a:p>
          <a:p>
            <a:pPr>
              <a:lnSpc>
                <a:spcPct val="150000"/>
              </a:lnSpc>
            </a:pPr>
            <a:endParaRPr lang="en-US" sz="2000" dirty="0">
              <a:latin typeface="Times New Roman" panose="02020603050405020304"/>
              <a:cs typeface="Times New Roman" panose="020206030504050203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25583" y="542186"/>
            <a:ext cx="5403010"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US" sz="2400" b="1" dirty="0">
                <a:latin typeface="Times New Roman" panose="02020603050405020304"/>
                <a:cs typeface="Times New Roman" panose="02020603050405020304"/>
              </a:rPr>
              <a:t>MUSCULAR MOVEMENTS :</a:t>
            </a:r>
          </a:p>
        </p:txBody>
      </p:sp>
      <p:sp>
        <p:nvSpPr>
          <p:cNvPr id="5" name="TextBox 4"/>
          <p:cNvSpPr txBox="1"/>
          <p:nvPr/>
        </p:nvSpPr>
        <p:spPr>
          <a:xfrm rot="-10800000" flipV="1">
            <a:off x="804174" y="1284594"/>
            <a:ext cx="5129841" cy="4191981"/>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pPr marL="285750" indent="-285750">
              <a:lnSpc>
                <a:spcPct val="150000"/>
              </a:lnSpc>
              <a:buFont typeface="Wingdings" panose="05000000000000000000"/>
              <a:buChar char="Ø"/>
            </a:pPr>
            <a:r>
              <a:rPr lang="en-US" sz="2000" dirty="0">
                <a:latin typeface="Times New Roman" panose="02020603050405020304"/>
                <a:cs typeface="Times New Roman" panose="02020603050405020304"/>
              </a:rPr>
              <a:t>The primary movement of the fingers are </a:t>
            </a:r>
            <a:r>
              <a:rPr lang="en-US" sz="2000" b="1" dirty="0">
                <a:latin typeface="Times New Roman" panose="02020603050405020304"/>
                <a:cs typeface="Times New Roman" panose="02020603050405020304"/>
              </a:rPr>
              <a:t>FLEXION </a:t>
            </a:r>
            <a:r>
              <a:rPr lang="en-US" sz="2000" dirty="0">
                <a:latin typeface="Times New Roman" panose="02020603050405020304"/>
                <a:cs typeface="Times New Roman" panose="02020603050405020304"/>
              </a:rPr>
              <a:t>and </a:t>
            </a:r>
            <a:r>
              <a:rPr lang="en-US" sz="2000" b="1" dirty="0">
                <a:latin typeface="Times New Roman" panose="02020603050405020304"/>
                <a:cs typeface="Times New Roman" panose="02020603050405020304"/>
              </a:rPr>
              <a:t>EXTENSION</a:t>
            </a:r>
            <a:r>
              <a:rPr lang="en-US" sz="2000" dirty="0">
                <a:latin typeface="Times New Roman" panose="02020603050405020304"/>
                <a:cs typeface="Times New Roman" panose="02020603050405020304"/>
              </a:rPr>
              <a:t>.</a:t>
            </a:r>
            <a:r>
              <a:rPr lang="en-US" sz="2000" b="1" dirty="0">
                <a:latin typeface="Times New Roman" panose="02020603050405020304"/>
                <a:cs typeface="Times New Roman" panose="02020603050405020304"/>
              </a:rPr>
              <a:t>FLEXION</a:t>
            </a:r>
            <a:r>
              <a:rPr lang="en-US" sz="2000" dirty="0">
                <a:latin typeface="Times New Roman" panose="02020603050405020304"/>
                <a:cs typeface="Times New Roman" panose="02020603050405020304"/>
              </a:rPr>
              <a:t> is used to grab and hold ,while </a:t>
            </a:r>
            <a:r>
              <a:rPr lang="en-US" sz="2000" b="1" dirty="0">
                <a:latin typeface="Times New Roman" panose="02020603050405020304"/>
                <a:cs typeface="Times New Roman" panose="02020603050405020304"/>
              </a:rPr>
              <a:t>EXTENSION</a:t>
            </a:r>
            <a:r>
              <a:rPr lang="en-US" sz="2000" dirty="0">
                <a:latin typeface="Times New Roman" panose="02020603050405020304"/>
                <a:cs typeface="Times New Roman" panose="02020603050405020304"/>
              </a:rPr>
              <a:t> is used to reach out . The intrinsic muscles of the hand provide fine motor control by flexing,extending ,abducting, and adducting  the finger and the thumb segments. The muscles the fingers are the </a:t>
            </a:r>
            <a:r>
              <a:rPr lang="en-US" sz="2000" b="1" dirty="0">
                <a:latin typeface="Times New Roman" panose="02020603050405020304"/>
                <a:cs typeface="Times New Roman" panose="02020603050405020304"/>
              </a:rPr>
              <a:t>palm</a:t>
            </a:r>
            <a:r>
              <a:rPr lang="en-US" sz="2000" dirty="0">
                <a:latin typeface="Times New Roman" panose="02020603050405020304"/>
                <a:cs typeface="Times New Roman" panose="02020603050405020304"/>
              </a:rPr>
              <a:t> and the  </a:t>
            </a:r>
            <a:r>
              <a:rPr lang="en-US" sz="2000" b="1" dirty="0" err="1">
                <a:latin typeface="Times New Roman" panose="02020603050405020304"/>
                <a:cs typeface="Times New Roman" panose="02020603050405020304"/>
              </a:rPr>
              <a:t>forepalm</a:t>
            </a:r>
            <a:r>
              <a:rPr lang="en-US" sz="2000" b="1" dirty="0">
                <a:latin typeface="Times New Roman" panose="02020603050405020304"/>
                <a:cs typeface="Times New Roman" panose="02020603050405020304"/>
              </a:rPr>
              <a:t>.</a:t>
            </a:r>
          </a:p>
        </p:txBody>
      </p:sp>
      <p:pic>
        <p:nvPicPr>
          <p:cNvPr id="8" name="Picture 7" descr="A diagram of the muscles of the arm&#10;&#10;Description automatically generated"/>
          <p:cNvPicPr>
            <a:picLocks noChangeAspect="1"/>
          </p:cNvPicPr>
          <p:nvPr/>
        </p:nvPicPr>
        <p:blipFill>
          <a:blip r:embed="rId2"/>
          <a:stretch>
            <a:fillRect/>
          </a:stretch>
        </p:blipFill>
        <p:spPr>
          <a:xfrm>
            <a:off x="6095999" y="1641894"/>
            <a:ext cx="5937850" cy="32004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88837" y="525574"/>
            <a:ext cx="920150" cy="920150"/>
          </a:xfrm>
          <a:prstGeom prst="rect">
            <a:avLst/>
          </a:prstGeom>
          <a:ln>
            <a:solidFill>
              <a:schemeClr val="tx2">
                <a:lumMod val="75000"/>
                <a:lumOff val="25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2000" b="1" dirty="0">
                <a:latin typeface="Times New Roman" panose="02020603050405020304"/>
                <a:cs typeface="Times New Roman" panose="02020603050405020304"/>
              </a:rPr>
              <a:t>SM 1</a:t>
            </a:r>
          </a:p>
        </p:txBody>
      </p:sp>
      <p:sp>
        <p:nvSpPr>
          <p:cNvPr id="3" name="Rectangle 2"/>
          <p:cNvSpPr/>
          <p:nvPr/>
        </p:nvSpPr>
        <p:spPr>
          <a:xfrm>
            <a:off x="793630" y="4473915"/>
            <a:ext cx="920150" cy="92015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Times New Roman" panose="02020603050405020304"/>
                <a:cs typeface="Times New Roman" panose="02020603050405020304"/>
              </a:rPr>
              <a:t>SM 4</a:t>
            </a:r>
          </a:p>
        </p:txBody>
      </p:sp>
      <p:sp>
        <p:nvSpPr>
          <p:cNvPr id="4" name="Rectangle 3"/>
          <p:cNvSpPr/>
          <p:nvPr/>
        </p:nvSpPr>
        <p:spPr>
          <a:xfrm>
            <a:off x="789796" y="5766280"/>
            <a:ext cx="920150" cy="92015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Times New Roman" panose="02020603050405020304"/>
                <a:cs typeface="Times New Roman" panose="02020603050405020304"/>
              </a:rPr>
              <a:t>SM 5</a:t>
            </a:r>
          </a:p>
        </p:txBody>
      </p:sp>
      <p:sp>
        <p:nvSpPr>
          <p:cNvPr id="5" name="Rectangle 4"/>
          <p:cNvSpPr/>
          <p:nvPr/>
        </p:nvSpPr>
        <p:spPr>
          <a:xfrm>
            <a:off x="791713" y="3181230"/>
            <a:ext cx="920150" cy="92015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Times New Roman" panose="02020603050405020304"/>
                <a:cs typeface="Times New Roman" panose="02020603050405020304"/>
              </a:rPr>
              <a:t>SM 3</a:t>
            </a:r>
          </a:p>
        </p:txBody>
      </p:sp>
      <p:sp>
        <p:nvSpPr>
          <p:cNvPr id="6" name="Rectangle 5"/>
          <p:cNvSpPr/>
          <p:nvPr/>
        </p:nvSpPr>
        <p:spPr>
          <a:xfrm>
            <a:off x="838999" y="1855958"/>
            <a:ext cx="920150" cy="92015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Times New Roman" panose="02020603050405020304"/>
                <a:cs typeface="Times New Roman" panose="02020603050405020304"/>
              </a:rPr>
              <a:t>SM 2</a:t>
            </a:r>
          </a:p>
        </p:txBody>
      </p:sp>
      <p:sp>
        <p:nvSpPr>
          <p:cNvPr id="8" name="Arrow: Down 7"/>
          <p:cNvSpPr/>
          <p:nvPr/>
        </p:nvSpPr>
        <p:spPr>
          <a:xfrm flipH="1">
            <a:off x="1197153" y="2776428"/>
            <a:ext cx="230037" cy="402565"/>
          </a:xfrm>
          <a:prstGeom prst="downArrow">
            <a:avLst/>
          </a:prstGeom>
          <a:solidFill>
            <a:schemeClr val="tx1">
              <a:lumMod val="95000"/>
              <a:lumOff val="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Arrow: Down 8"/>
          <p:cNvSpPr/>
          <p:nvPr/>
        </p:nvSpPr>
        <p:spPr>
          <a:xfrm>
            <a:off x="1180221" y="4097866"/>
            <a:ext cx="244414" cy="373810"/>
          </a:xfrm>
          <a:prstGeom prst="downArrow">
            <a:avLst/>
          </a:prstGeom>
          <a:solidFill>
            <a:schemeClr val="tx1">
              <a:lumMod val="95000"/>
              <a:lumOff val="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Arrow: Down 9"/>
          <p:cNvSpPr/>
          <p:nvPr/>
        </p:nvSpPr>
        <p:spPr>
          <a:xfrm>
            <a:off x="1171914" y="1447001"/>
            <a:ext cx="215663" cy="388189"/>
          </a:xfrm>
          <a:prstGeom prst="downArrow">
            <a:avLst/>
          </a:prstGeom>
          <a:solidFill>
            <a:schemeClr val="tx1">
              <a:lumMod val="95000"/>
              <a:lumOff val="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Arrow: Down 10"/>
          <p:cNvSpPr/>
          <p:nvPr/>
        </p:nvSpPr>
        <p:spPr>
          <a:xfrm>
            <a:off x="1166802" y="5392469"/>
            <a:ext cx="258793" cy="373810"/>
          </a:xfrm>
          <a:prstGeom prst="downArrow">
            <a:avLst/>
          </a:prstGeom>
          <a:solidFill>
            <a:schemeClr val="tx1">
              <a:lumMod val="95000"/>
              <a:lumOff val="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3667506" y="1606751"/>
            <a:ext cx="2976111" cy="408316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u="sng" dirty="0">
                <a:solidFill>
                  <a:schemeClr val="tx1"/>
                </a:solidFill>
                <a:latin typeface="Times New Roman" panose="02020603050405020304"/>
                <a:cs typeface="Times New Roman" panose="02020603050405020304"/>
              </a:rPr>
              <a:t>PCB</a:t>
            </a:r>
          </a:p>
        </p:txBody>
      </p:sp>
      <p:sp>
        <p:nvSpPr>
          <p:cNvPr id="13" name="Arrow: Right 12"/>
          <p:cNvSpPr/>
          <p:nvPr/>
        </p:nvSpPr>
        <p:spPr>
          <a:xfrm>
            <a:off x="1744133" y="3352800"/>
            <a:ext cx="1926566" cy="301924"/>
          </a:xfrm>
          <a:prstGeom prst="rightArrow">
            <a:avLst/>
          </a:prstGeom>
          <a:solidFill>
            <a:schemeClr val="tx1">
              <a:lumMod val="95000"/>
              <a:lumOff val="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Arrow: Right 13"/>
          <p:cNvSpPr/>
          <p:nvPr/>
        </p:nvSpPr>
        <p:spPr>
          <a:xfrm>
            <a:off x="6729242" y="2065866"/>
            <a:ext cx="2731697" cy="244415"/>
          </a:xfrm>
          <a:prstGeom prst="rightArrow">
            <a:avLst/>
          </a:prstGeom>
          <a:solidFill>
            <a:schemeClr val="tx1">
              <a:lumMod val="95000"/>
              <a:lumOff val="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p:cNvSpPr/>
          <p:nvPr/>
        </p:nvSpPr>
        <p:spPr>
          <a:xfrm>
            <a:off x="9523883" y="1638061"/>
            <a:ext cx="2343507" cy="1107056"/>
          </a:xfrm>
          <a:prstGeom prst="rect">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Times New Roman" panose="02020603050405020304"/>
                <a:cs typeface="Times New Roman" panose="02020603050405020304"/>
              </a:rPr>
              <a:t>9V/12V</a:t>
            </a:r>
          </a:p>
          <a:p>
            <a:pPr algn="ctr"/>
            <a:r>
              <a:rPr lang="en-US" sz="2000" b="1" dirty="0">
                <a:solidFill>
                  <a:schemeClr val="tx1"/>
                </a:solidFill>
                <a:latin typeface="Times New Roman" panose="02020603050405020304"/>
                <a:cs typeface="Times New Roman" panose="02020603050405020304"/>
              </a:rPr>
              <a:t>POWER SUPPLY</a:t>
            </a:r>
          </a:p>
        </p:txBody>
      </p:sp>
      <p:sp>
        <p:nvSpPr>
          <p:cNvPr id="16" name="Lightning Bolt 15"/>
          <p:cNvSpPr/>
          <p:nvPr/>
        </p:nvSpPr>
        <p:spPr>
          <a:xfrm>
            <a:off x="9753920" y="1839982"/>
            <a:ext cx="460075" cy="345055"/>
          </a:xfrm>
          <a:prstGeom prst="lightningBol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p:cNvSpPr/>
          <p:nvPr/>
        </p:nvSpPr>
        <p:spPr>
          <a:xfrm>
            <a:off x="8096050" y="3935243"/>
            <a:ext cx="2645433" cy="1639017"/>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Times New Roman" panose="02020603050405020304"/>
                <a:cs typeface="Times New Roman" panose="02020603050405020304"/>
              </a:rPr>
              <a:t>AD8232 ECG SENSOR</a:t>
            </a:r>
          </a:p>
        </p:txBody>
      </p:sp>
      <p:sp>
        <p:nvSpPr>
          <p:cNvPr id="18" name="Arrow: Left 17"/>
          <p:cNvSpPr/>
          <p:nvPr/>
        </p:nvSpPr>
        <p:spPr>
          <a:xfrm>
            <a:off x="6722533" y="5137509"/>
            <a:ext cx="1293962" cy="258792"/>
          </a:xfrm>
          <a:prstGeom prst="leftArrow">
            <a:avLst/>
          </a:prstGeom>
          <a:solidFill>
            <a:schemeClr val="tx1">
              <a:lumMod val="95000"/>
              <a:lumOff val="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Arrow: Right 18"/>
          <p:cNvSpPr/>
          <p:nvPr/>
        </p:nvSpPr>
        <p:spPr>
          <a:xfrm>
            <a:off x="6727645" y="4477109"/>
            <a:ext cx="1293962" cy="258792"/>
          </a:xfrm>
          <a:prstGeom prst="rightArrow">
            <a:avLst/>
          </a:prstGeom>
          <a:solidFill>
            <a:schemeClr val="tx1">
              <a:lumMod val="95000"/>
              <a:lumOff val="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Arrow: Right 19"/>
          <p:cNvSpPr/>
          <p:nvPr/>
        </p:nvSpPr>
        <p:spPr>
          <a:xfrm>
            <a:off x="10803467" y="4538133"/>
            <a:ext cx="833886" cy="230037"/>
          </a:xfrm>
          <a:prstGeom prst="rightArrow">
            <a:avLst/>
          </a:prstGeom>
          <a:solidFill>
            <a:schemeClr val="tx1">
              <a:lumMod val="95000"/>
              <a:lumOff val="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p:cNvSpPr txBox="1"/>
          <p:nvPr/>
        </p:nvSpPr>
        <p:spPr>
          <a:xfrm>
            <a:off x="7925439" y="421737"/>
            <a:ext cx="4123426" cy="1015663"/>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US" sz="2000" dirty="0">
                <a:latin typeface="Times New Roman" panose="02020603050405020304"/>
                <a:cs typeface="Times New Roman" panose="02020603050405020304"/>
              </a:rPr>
              <a:t>SM-SERVO MOTOR (MG995</a:t>
            </a:r>
          </a:p>
          <a:p>
            <a:r>
              <a:rPr lang="en-US" sz="2000" dirty="0">
                <a:latin typeface="Times New Roman" panose="02020603050405020304"/>
                <a:cs typeface="Times New Roman" panose="02020603050405020304"/>
              </a:rPr>
              <a:t>ECG-ELECTRO CARDIOGRAM</a:t>
            </a:r>
          </a:p>
          <a:p>
            <a:r>
              <a:rPr lang="en-US" sz="2000" dirty="0">
                <a:latin typeface="Times New Roman" panose="02020603050405020304"/>
                <a:cs typeface="Times New Roman" panose="02020603050405020304"/>
              </a:rPr>
              <a:t>PCB-PRINTED CIRCUIT BOARD</a:t>
            </a:r>
          </a:p>
        </p:txBody>
      </p:sp>
      <p:sp>
        <p:nvSpPr>
          <p:cNvPr id="22" name="TextBox 21"/>
          <p:cNvSpPr txBox="1"/>
          <p:nvPr/>
        </p:nvSpPr>
        <p:spPr>
          <a:xfrm>
            <a:off x="3452484" y="149525"/>
            <a:ext cx="3361425"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US" sz="2400" b="1" dirty="0">
                <a:latin typeface="Times New Roman" panose="02020603050405020304"/>
                <a:cs typeface="Times New Roman" panose="02020603050405020304"/>
              </a:rPr>
              <a:t>BLOCK DIAGRAM:</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200400" y="863600"/>
            <a:ext cx="2743200" cy="365760"/>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pPr algn="l"/>
            <a:endParaRPr lang="en-US"/>
          </a:p>
        </p:txBody>
      </p:sp>
      <p:sp>
        <p:nvSpPr>
          <p:cNvPr id="3" name="TextBox 2"/>
          <p:cNvSpPr txBox="1"/>
          <p:nvPr/>
        </p:nvSpPr>
        <p:spPr>
          <a:xfrm>
            <a:off x="2302933" y="1608666"/>
            <a:ext cx="2743200" cy="365760"/>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pPr algn="l"/>
            <a:endParaRPr lang="en-US"/>
          </a:p>
        </p:txBody>
      </p:sp>
      <p:sp>
        <p:nvSpPr>
          <p:cNvPr id="4" name="TextBox 3"/>
          <p:cNvSpPr txBox="1"/>
          <p:nvPr/>
        </p:nvSpPr>
        <p:spPr>
          <a:xfrm>
            <a:off x="2861733" y="1168400"/>
            <a:ext cx="2743200" cy="365760"/>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pPr algn="l"/>
            <a:endParaRPr lang="en-US"/>
          </a:p>
        </p:txBody>
      </p:sp>
      <p:sp>
        <p:nvSpPr>
          <p:cNvPr id="5" name="TextBox 4"/>
          <p:cNvSpPr txBox="1"/>
          <p:nvPr/>
        </p:nvSpPr>
        <p:spPr>
          <a:xfrm>
            <a:off x="2980266" y="982133"/>
            <a:ext cx="2743200" cy="365760"/>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pPr algn="l"/>
            <a:endParaRPr lang="en-US"/>
          </a:p>
        </p:txBody>
      </p:sp>
      <p:sp>
        <p:nvSpPr>
          <p:cNvPr id="6" name="TextBox 5"/>
          <p:cNvSpPr txBox="1"/>
          <p:nvPr/>
        </p:nvSpPr>
        <p:spPr>
          <a:xfrm>
            <a:off x="5486400" y="694266"/>
            <a:ext cx="2743200" cy="365760"/>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pPr algn="l"/>
            <a:endParaRPr lang="en-US"/>
          </a:p>
        </p:txBody>
      </p:sp>
      <p:sp>
        <p:nvSpPr>
          <p:cNvPr id="7" name="TextBox 6"/>
          <p:cNvSpPr txBox="1"/>
          <p:nvPr/>
        </p:nvSpPr>
        <p:spPr>
          <a:xfrm>
            <a:off x="6028266" y="1032933"/>
            <a:ext cx="2743200" cy="365760"/>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pPr algn="l"/>
            <a:endParaRPr lang="en-US"/>
          </a:p>
        </p:txBody>
      </p:sp>
      <p:sp>
        <p:nvSpPr>
          <p:cNvPr id="10" name="TextBox 9"/>
          <p:cNvSpPr txBox="1"/>
          <p:nvPr/>
        </p:nvSpPr>
        <p:spPr>
          <a:xfrm>
            <a:off x="4221192" y="328763"/>
            <a:ext cx="3763992"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US" sz="2400" b="1" dirty="0">
                <a:latin typeface="Times New Roman" panose="02020603050405020304"/>
                <a:cs typeface="Times New Roman" panose="02020603050405020304"/>
              </a:rPr>
              <a:t>LITERATURE SURVEY</a:t>
            </a:r>
          </a:p>
        </p:txBody>
      </p:sp>
      <p:sp>
        <p:nvSpPr>
          <p:cNvPr id="11" name="TextBox 10"/>
          <p:cNvSpPr txBox="1"/>
          <p:nvPr/>
        </p:nvSpPr>
        <p:spPr>
          <a:xfrm>
            <a:off x="368062" y="986286"/>
            <a:ext cx="11772179" cy="6275051"/>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pPr>
              <a:lnSpc>
                <a:spcPct val="150000"/>
              </a:lnSpc>
            </a:pPr>
            <a:r>
              <a:rPr lang="en-US" dirty="0">
                <a:latin typeface="Times New Roman" panose="02020603050405020304"/>
                <a:ea typeface="+mn-lt"/>
                <a:cs typeface="+mn-lt"/>
              </a:rPr>
              <a:t>Almassri, Ahmed M., et al. "Pressure sensor: State of the art, design, and application for robotic hand." </a:t>
            </a:r>
            <a:r>
              <a:rPr lang="en-US" i="1" dirty="0">
                <a:latin typeface="Times New Roman" panose="02020603050405020304"/>
                <a:ea typeface="+mn-lt"/>
                <a:cs typeface="+mn-lt"/>
              </a:rPr>
              <a:t>Journal of Sensors</a:t>
            </a:r>
            <a:r>
              <a:rPr lang="en-US" dirty="0">
                <a:latin typeface="Times New Roman" panose="02020603050405020304"/>
                <a:ea typeface="+mn-lt"/>
                <a:cs typeface="+mn-lt"/>
              </a:rPr>
              <a:t> 2015 (2015).</a:t>
            </a:r>
            <a:endParaRPr lang="en-US" dirty="0">
              <a:latin typeface="Times New Roman" panose="02020603050405020304"/>
              <a:cs typeface="Times New Roman" panose="02020603050405020304"/>
            </a:endParaRPr>
          </a:p>
          <a:p>
            <a:pPr>
              <a:lnSpc>
                <a:spcPct val="150000"/>
              </a:lnSpc>
            </a:pPr>
            <a:r>
              <a:rPr lang="en-US" dirty="0">
                <a:latin typeface="Times New Roman" panose="02020603050405020304"/>
                <a:ea typeface="+mn-lt"/>
                <a:cs typeface="+mn-lt"/>
              </a:rPr>
              <a:t>APA</a:t>
            </a:r>
            <a:endParaRPr lang="en-US" dirty="0">
              <a:latin typeface="Times New Roman" panose="02020603050405020304"/>
              <a:cs typeface="Times New Roman" panose="02020603050405020304"/>
            </a:endParaRPr>
          </a:p>
          <a:p>
            <a:pPr>
              <a:lnSpc>
                <a:spcPct val="150000"/>
              </a:lnSpc>
            </a:pPr>
            <a:r>
              <a:rPr lang="en-US" dirty="0">
                <a:latin typeface="Times New Roman" panose="02020603050405020304"/>
                <a:ea typeface="+mn-lt"/>
                <a:cs typeface="+mn-lt"/>
              </a:rPr>
              <a:t>Almassri, A. M., Wan Hasan, W. Z., Ahmad, S. A., Ishak, A. J., Ghazali, A. M., Talib, D. N., &amp; Wada, C. (2015). Pressure sensor: State of the art, design, and application for robotic hand. </a:t>
            </a:r>
            <a:r>
              <a:rPr lang="en-US" i="1" dirty="0">
                <a:latin typeface="Times New Roman" panose="02020603050405020304"/>
                <a:ea typeface="+mn-lt"/>
                <a:cs typeface="+mn-lt"/>
              </a:rPr>
              <a:t>Journal of Sensors</a:t>
            </a:r>
            <a:r>
              <a:rPr lang="en-US" dirty="0">
                <a:latin typeface="Times New Roman" panose="02020603050405020304"/>
                <a:ea typeface="+mn-lt"/>
                <a:cs typeface="+mn-lt"/>
              </a:rPr>
              <a:t>, </a:t>
            </a:r>
            <a:r>
              <a:rPr lang="en-US" i="1" dirty="0">
                <a:latin typeface="Times New Roman" panose="02020603050405020304"/>
                <a:ea typeface="+mn-lt"/>
                <a:cs typeface="+mn-lt"/>
              </a:rPr>
              <a:t>2015</a:t>
            </a:r>
            <a:r>
              <a:rPr lang="en-US" dirty="0">
                <a:latin typeface="Times New Roman" panose="02020603050405020304"/>
                <a:ea typeface="+mn-lt"/>
                <a:cs typeface="+mn-lt"/>
              </a:rPr>
              <a:t>.</a:t>
            </a:r>
            <a:endParaRPr lang="en-US" dirty="0">
              <a:latin typeface="Times New Roman" panose="02020603050405020304"/>
              <a:cs typeface="Times New Roman" panose="02020603050405020304"/>
            </a:endParaRPr>
          </a:p>
          <a:p>
            <a:pPr>
              <a:lnSpc>
                <a:spcPct val="150000"/>
              </a:lnSpc>
            </a:pPr>
            <a:r>
              <a:rPr lang="en-US" dirty="0">
                <a:latin typeface="Times New Roman" panose="02020603050405020304"/>
                <a:ea typeface="+mn-lt"/>
                <a:cs typeface="+mn-lt"/>
              </a:rPr>
              <a:t>Chicago</a:t>
            </a:r>
            <a:endParaRPr lang="en-US" dirty="0">
              <a:latin typeface="Times New Roman" panose="02020603050405020304"/>
              <a:cs typeface="Times New Roman" panose="02020603050405020304"/>
            </a:endParaRPr>
          </a:p>
          <a:p>
            <a:pPr>
              <a:lnSpc>
                <a:spcPct val="150000"/>
              </a:lnSpc>
            </a:pPr>
            <a:r>
              <a:rPr lang="en-US" dirty="0">
                <a:latin typeface="Times New Roman" panose="02020603050405020304"/>
                <a:ea typeface="+mn-lt"/>
                <a:cs typeface="+mn-lt"/>
              </a:rPr>
              <a:t>Almassri  , Ahmed M., W. Z. Wan Hasan, Siti Anom Ahmad, Asnor J. Ishak, A. M. Ghazali, D. N. Talib, and Chikamune Wada. "Pressure sensor: State of the art, design, and application for robotic hand." </a:t>
            </a:r>
            <a:r>
              <a:rPr lang="en-US" i="1" dirty="0">
                <a:latin typeface="Times New Roman" panose="02020603050405020304"/>
                <a:ea typeface="+mn-lt"/>
                <a:cs typeface="+mn-lt"/>
              </a:rPr>
              <a:t>Journal of Sensors</a:t>
            </a:r>
            <a:r>
              <a:rPr lang="en-US" dirty="0">
                <a:latin typeface="Times New Roman" panose="02020603050405020304"/>
                <a:ea typeface="+mn-lt"/>
                <a:cs typeface="+mn-lt"/>
              </a:rPr>
              <a:t> 2015 (2015).</a:t>
            </a:r>
            <a:endParaRPr lang="en-US">
              <a:latin typeface="Times New Roman" panose="02020603050405020304"/>
              <a:cs typeface="Times New Roman" panose="02020603050405020304"/>
            </a:endParaRPr>
          </a:p>
          <a:p>
            <a:pPr>
              <a:lnSpc>
                <a:spcPct val="150000"/>
              </a:lnSpc>
            </a:pPr>
            <a:r>
              <a:rPr lang="en-US" dirty="0">
                <a:latin typeface="Times New Roman" panose="02020603050405020304"/>
                <a:ea typeface="+mn-lt"/>
                <a:cs typeface="+mn-lt"/>
              </a:rPr>
              <a:t>Harvard</a:t>
            </a:r>
            <a:endParaRPr lang="en-US">
              <a:latin typeface="Times New Roman" panose="02020603050405020304"/>
              <a:cs typeface="Times New Roman" panose="02020603050405020304"/>
            </a:endParaRPr>
          </a:p>
          <a:p>
            <a:pPr>
              <a:lnSpc>
                <a:spcPct val="150000"/>
              </a:lnSpc>
            </a:pPr>
            <a:r>
              <a:rPr lang="en-US" dirty="0">
                <a:latin typeface="Times New Roman" panose="02020603050405020304"/>
                <a:ea typeface="+mn-lt"/>
                <a:cs typeface="+mn-lt"/>
              </a:rPr>
              <a:t>Almassri , A.M., Wan Hasan, W.Z., Ahmad, S.A., Ishak, A.J., Ghazali, A.M., Talib, D.N. and Wada, C., 2015. Pressure sensor: State of the art, design, and application for robotic hand. </a:t>
            </a:r>
            <a:r>
              <a:rPr lang="en-US" i="1" dirty="0">
                <a:latin typeface="Times New Roman" panose="02020603050405020304"/>
                <a:ea typeface="+mn-lt"/>
                <a:cs typeface="+mn-lt"/>
              </a:rPr>
              <a:t>Journal of Sensors</a:t>
            </a:r>
            <a:r>
              <a:rPr lang="en-US" dirty="0">
                <a:latin typeface="Times New Roman" panose="02020603050405020304"/>
                <a:ea typeface="+mn-lt"/>
                <a:cs typeface="+mn-lt"/>
              </a:rPr>
              <a:t>, </a:t>
            </a:r>
            <a:r>
              <a:rPr lang="en-US" i="1" dirty="0">
                <a:latin typeface="Times New Roman" panose="02020603050405020304"/>
                <a:ea typeface="+mn-lt"/>
                <a:cs typeface="+mn-lt"/>
              </a:rPr>
              <a:t>2015</a:t>
            </a:r>
            <a:r>
              <a:rPr lang="en-US" dirty="0">
                <a:latin typeface="Times New Roman" panose="02020603050405020304"/>
                <a:ea typeface="+mn-lt"/>
                <a:cs typeface="+mn-lt"/>
              </a:rPr>
              <a:t>.</a:t>
            </a:r>
            <a:endParaRPr lang="en-US">
              <a:latin typeface="Times New Roman" panose="02020603050405020304"/>
              <a:cs typeface="Times New Roman" panose="02020603050405020304"/>
            </a:endParaRPr>
          </a:p>
          <a:p>
            <a:pPr>
              <a:lnSpc>
                <a:spcPct val="150000"/>
              </a:lnSpc>
            </a:pPr>
            <a:r>
              <a:rPr lang="en-US" dirty="0">
                <a:latin typeface="Times New Roman" panose="02020603050405020304"/>
                <a:ea typeface="+mn-lt"/>
                <a:cs typeface="+mn-lt"/>
              </a:rPr>
              <a:t>Vancouver</a:t>
            </a:r>
            <a:endParaRPr lang="en-US">
              <a:latin typeface="Times New Roman" panose="02020603050405020304"/>
              <a:cs typeface="Times New Roman" panose="02020603050405020304"/>
            </a:endParaRPr>
          </a:p>
          <a:p>
            <a:pPr>
              <a:lnSpc>
                <a:spcPct val="150000"/>
              </a:lnSpc>
            </a:pPr>
            <a:r>
              <a:rPr lang="en-US" dirty="0">
                <a:latin typeface="Times New Roman" panose="02020603050405020304"/>
                <a:ea typeface="+mn-lt"/>
                <a:cs typeface="+mn-lt"/>
              </a:rPr>
              <a:t>Almassri  AM, Wan Hasan WZ, Ahmad SA, Ishak AJ, Ghazali AM, Talib DN, Wada C. Pressure sensor: State of the art, design, and application for robotic hand. Journal of Sensors. 2015 Dec;2015.</a:t>
            </a:r>
            <a:endParaRPr lang="en-US">
              <a:latin typeface="Times New Roman" panose="02020603050405020304"/>
              <a:cs typeface="Times New Roman" panose="02020603050405020304"/>
            </a:endParaRPr>
          </a:p>
          <a:p>
            <a:pPr>
              <a:lnSpc>
                <a:spcPct val="150000"/>
              </a:lnSpc>
            </a:pPr>
            <a:endParaRPr lang="en-US" dirty="0">
              <a:latin typeface="Times New Roman" panose="02020603050405020304"/>
              <a:cs typeface="Times New Roman" panose="02020603050405020304"/>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6304" y="197450"/>
            <a:ext cx="4037162"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US" sz="2400" b="1" dirty="0">
                <a:latin typeface="Times New Roman" panose="02020603050405020304"/>
                <a:cs typeface="Times New Roman" panose="02020603050405020304"/>
              </a:rPr>
              <a:t>COMPONENTS :</a:t>
            </a:r>
          </a:p>
        </p:txBody>
      </p:sp>
      <p:sp>
        <p:nvSpPr>
          <p:cNvPr id="3" name="TextBox 2"/>
          <p:cNvSpPr txBox="1"/>
          <p:nvPr/>
        </p:nvSpPr>
        <p:spPr>
          <a:xfrm>
            <a:off x="897466" y="1540933"/>
            <a:ext cx="2743200" cy="365760"/>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US" b="1" dirty="0">
                <a:latin typeface="Times New Roman" panose="02020603050405020304"/>
                <a:cs typeface="Times New Roman" panose="02020603050405020304"/>
              </a:rPr>
              <a:t>MG995 SERVO MOTOR</a:t>
            </a:r>
          </a:p>
        </p:txBody>
      </p:sp>
      <p:sp>
        <p:nvSpPr>
          <p:cNvPr id="4" name="TextBox 3"/>
          <p:cNvSpPr txBox="1"/>
          <p:nvPr/>
        </p:nvSpPr>
        <p:spPr>
          <a:xfrm>
            <a:off x="4729511" y="1551156"/>
            <a:ext cx="2743200" cy="365760"/>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US" b="1" dirty="0">
                <a:latin typeface="Times New Roman" panose="02020603050405020304"/>
                <a:cs typeface="Times New Roman" panose="02020603050405020304"/>
              </a:rPr>
              <a:t>AD8232 ECG SENSOR</a:t>
            </a:r>
          </a:p>
        </p:txBody>
      </p:sp>
      <p:sp>
        <p:nvSpPr>
          <p:cNvPr id="5" name="TextBox 4"/>
          <p:cNvSpPr txBox="1"/>
          <p:nvPr/>
        </p:nvSpPr>
        <p:spPr>
          <a:xfrm>
            <a:off x="7941414" y="1530069"/>
            <a:ext cx="415218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US" b="1" dirty="0">
                <a:latin typeface="Times New Roman" panose="02020603050405020304"/>
                <a:cs typeface="Times New Roman" panose="02020603050405020304"/>
              </a:rPr>
              <a:t>ATMEGA328 MICROCONTROLLER</a:t>
            </a:r>
          </a:p>
        </p:txBody>
      </p:sp>
      <p:pic>
        <p:nvPicPr>
          <p:cNvPr id="6" name="Picture 5" descr="A small black electronic device&#10;&#10;Description automatically generated"/>
          <p:cNvPicPr>
            <a:picLocks noChangeAspect="1"/>
          </p:cNvPicPr>
          <p:nvPr/>
        </p:nvPicPr>
        <p:blipFill>
          <a:blip r:embed="rId2"/>
          <a:stretch>
            <a:fillRect/>
          </a:stretch>
        </p:blipFill>
        <p:spPr>
          <a:xfrm>
            <a:off x="1076236" y="2350070"/>
            <a:ext cx="2390775" cy="2847975"/>
          </a:xfrm>
          <a:prstGeom prst="rect">
            <a:avLst/>
          </a:prstGeom>
        </p:spPr>
      </p:pic>
      <p:pic>
        <p:nvPicPr>
          <p:cNvPr id="7" name="Picture 6" descr="A red circuit board with a black connector&#10;&#10;Description automatically generated"/>
          <p:cNvPicPr>
            <a:picLocks noChangeAspect="1"/>
          </p:cNvPicPr>
          <p:nvPr/>
        </p:nvPicPr>
        <p:blipFill>
          <a:blip r:embed="rId3"/>
          <a:stretch>
            <a:fillRect/>
          </a:stretch>
        </p:blipFill>
        <p:spPr>
          <a:xfrm>
            <a:off x="4429664" y="2349710"/>
            <a:ext cx="3505200" cy="2733675"/>
          </a:xfrm>
          <a:prstGeom prst="rect">
            <a:avLst/>
          </a:prstGeom>
        </p:spPr>
      </p:pic>
      <p:pic>
        <p:nvPicPr>
          <p:cNvPr id="8" name="Picture 7" descr="A black and white microchip&#10;&#10;Description automatically generated"/>
          <p:cNvPicPr>
            <a:picLocks noChangeAspect="1"/>
          </p:cNvPicPr>
          <p:nvPr/>
        </p:nvPicPr>
        <p:blipFill>
          <a:blip r:embed="rId4"/>
          <a:stretch>
            <a:fillRect/>
          </a:stretch>
        </p:blipFill>
        <p:spPr>
          <a:xfrm>
            <a:off x="8720048" y="2667360"/>
            <a:ext cx="2774470" cy="1940224"/>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8583" y="711200"/>
            <a:ext cx="144923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pPr algn="l"/>
            <a:r>
              <a:rPr lang="en-US" b="1" dirty="0">
                <a:latin typeface="Times New Roman" panose="02020603050405020304"/>
                <a:cs typeface="Times New Roman" panose="02020603050405020304"/>
              </a:rPr>
              <a:t>RESISTOR</a:t>
            </a:r>
          </a:p>
        </p:txBody>
      </p:sp>
      <p:sp>
        <p:nvSpPr>
          <p:cNvPr id="4" name="TextBox 3"/>
          <p:cNvSpPr txBox="1"/>
          <p:nvPr/>
        </p:nvSpPr>
        <p:spPr>
          <a:xfrm>
            <a:off x="3699134" y="713117"/>
            <a:ext cx="1593012" cy="380137"/>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pPr algn="l"/>
            <a:r>
              <a:rPr lang="en-US" b="1" dirty="0">
                <a:latin typeface="Times New Roman" panose="02020603050405020304"/>
                <a:cs typeface="Times New Roman" panose="02020603050405020304"/>
              </a:rPr>
              <a:t>CAPACITOR</a:t>
            </a:r>
          </a:p>
        </p:txBody>
      </p:sp>
      <p:sp>
        <p:nvSpPr>
          <p:cNvPr id="5" name="TextBox 4"/>
          <p:cNvSpPr txBox="1"/>
          <p:nvPr/>
        </p:nvSpPr>
        <p:spPr>
          <a:xfrm>
            <a:off x="6761511" y="706407"/>
            <a:ext cx="1593012" cy="365760"/>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US" b="1" dirty="0">
                <a:latin typeface="Times New Roman" panose="02020603050405020304"/>
                <a:cs typeface="Times New Roman" panose="02020603050405020304"/>
              </a:rPr>
              <a:t>ECG CABLE</a:t>
            </a:r>
          </a:p>
        </p:txBody>
      </p:sp>
      <p:sp>
        <p:nvSpPr>
          <p:cNvPr id="7" name="TextBox 6"/>
          <p:cNvSpPr txBox="1"/>
          <p:nvPr/>
        </p:nvSpPr>
        <p:spPr>
          <a:xfrm>
            <a:off x="9738264" y="708005"/>
            <a:ext cx="1808672" cy="365760"/>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US" b="1" dirty="0">
                <a:latin typeface="Times New Roman" panose="02020603050405020304"/>
                <a:cs typeface="Times New Roman" panose="02020603050405020304"/>
              </a:rPr>
              <a:t>IC BASE</a:t>
            </a:r>
          </a:p>
        </p:txBody>
      </p:sp>
      <p:pic>
        <p:nvPicPr>
          <p:cNvPr id="8" name="Picture 7" descr="A close-up of a resistor&#10;&#10;Description automatically generated"/>
          <p:cNvPicPr>
            <a:picLocks noChangeAspect="1"/>
          </p:cNvPicPr>
          <p:nvPr/>
        </p:nvPicPr>
        <p:blipFill>
          <a:blip r:embed="rId2"/>
          <a:stretch>
            <a:fillRect/>
          </a:stretch>
        </p:blipFill>
        <p:spPr>
          <a:xfrm>
            <a:off x="296084" y="2215371"/>
            <a:ext cx="2585229" cy="2556654"/>
          </a:xfrm>
          <a:prstGeom prst="rect">
            <a:avLst/>
          </a:prstGeom>
        </p:spPr>
      </p:pic>
      <p:pic>
        <p:nvPicPr>
          <p:cNvPr id="9" name="Picture 8" descr="A close-up of a capacitor&#10;&#10;Description automatically generated"/>
          <p:cNvPicPr>
            <a:picLocks noChangeAspect="1"/>
          </p:cNvPicPr>
          <p:nvPr/>
        </p:nvPicPr>
        <p:blipFill>
          <a:blip r:embed="rId3"/>
          <a:stretch>
            <a:fillRect/>
          </a:stretch>
        </p:blipFill>
        <p:spPr>
          <a:xfrm>
            <a:off x="3615457" y="2515589"/>
            <a:ext cx="2143125" cy="2143125"/>
          </a:xfrm>
          <a:prstGeom prst="rect">
            <a:avLst/>
          </a:prstGeom>
        </p:spPr>
      </p:pic>
      <p:pic>
        <p:nvPicPr>
          <p:cNvPr id="10" name="Picture 9"/>
          <p:cNvPicPr>
            <a:picLocks noChangeAspect="1"/>
          </p:cNvPicPr>
          <p:nvPr/>
        </p:nvPicPr>
        <p:blipFill>
          <a:blip r:embed="rId4"/>
          <a:stretch>
            <a:fillRect/>
          </a:stretch>
        </p:blipFill>
        <p:spPr>
          <a:xfrm>
            <a:off x="9739492" y="2314216"/>
            <a:ext cx="1914525" cy="2114550"/>
          </a:xfrm>
          <a:prstGeom prst="rect">
            <a:avLst/>
          </a:prstGeom>
        </p:spPr>
      </p:pic>
      <p:pic>
        <p:nvPicPr>
          <p:cNvPr id="11" name="Picture 10" descr="A wire with three plugs&#10;&#10;Description automatically generated"/>
          <p:cNvPicPr>
            <a:picLocks noChangeAspect="1"/>
          </p:cNvPicPr>
          <p:nvPr/>
        </p:nvPicPr>
        <p:blipFill>
          <a:blip r:embed="rId5"/>
          <a:stretch>
            <a:fillRect/>
          </a:stretch>
        </p:blipFill>
        <p:spPr>
          <a:xfrm>
            <a:off x="6653842" y="2362200"/>
            <a:ext cx="2133600" cy="21336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75102" y="2058838"/>
            <a:ext cx="4295954" cy="4813112"/>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US" sz="2000" b="1" dirty="0">
                <a:latin typeface="Times New Roman" panose="02020603050405020304"/>
                <a:ea typeface="+mn-lt"/>
                <a:cs typeface="+mn-lt"/>
              </a:rPr>
              <a:t>MG995SERVOMOTOR</a:t>
            </a:r>
            <a:endParaRPr lang="en-US" sz="2000" b="1" dirty="0">
              <a:latin typeface="Times New Roman" panose="02020603050405020304"/>
            </a:endParaRPr>
          </a:p>
          <a:p>
            <a:endParaRPr lang="en-US" sz="2000" b="1" dirty="0">
              <a:latin typeface="Times New Roman" panose="02020603050405020304"/>
              <a:ea typeface="+mn-lt"/>
              <a:cs typeface="+mn-lt"/>
            </a:endParaRPr>
          </a:p>
          <a:p>
            <a:pPr>
              <a:lnSpc>
                <a:spcPct val="150000"/>
              </a:lnSpc>
            </a:pPr>
            <a:r>
              <a:rPr lang="en-US" dirty="0">
                <a:latin typeface="Times New Roman" panose="02020603050405020304"/>
                <a:ea typeface="+mn-lt"/>
                <a:cs typeface="+mn-lt"/>
              </a:rPr>
              <a:t>MG995 Metal Gear Servo Motor is a high-speed standard servo can rotate approximately 180 degrees (60 in each direction) used for airplane, helicopter, RC-cars and many RC model. Provides 10kg/cm at 4.8V, and 12kgcm at 6V. It is a Digital Servo Motor which receives and processes PWM signal faster and better.</a:t>
            </a:r>
            <a:endParaRPr lang="en-US">
              <a:latin typeface="Times New Roman" panose="02020603050405020304"/>
              <a:cs typeface="Times New Roman" panose="02020603050405020304"/>
            </a:endParaRPr>
          </a:p>
          <a:p>
            <a:pPr>
              <a:lnSpc>
                <a:spcPct val="150000"/>
              </a:lnSpc>
            </a:pPr>
            <a:endParaRPr lang="en-US" dirty="0">
              <a:latin typeface="Times New Roman" panose="02020603050405020304"/>
              <a:cs typeface="Times New Roman" panose="02020603050405020304"/>
            </a:endParaRPr>
          </a:p>
          <a:p>
            <a:pPr algn="l">
              <a:lnSpc>
                <a:spcPct val="150000"/>
              </a:lnSpc>
            </a:pPr>
            <a:endParaRPr lang="en-US" dirty="0">
              <a:latin typeface="Times New Roman" panose="02020603050405020304"/>
              <a:cs typeface="Times New Roman" panose="02020603050405020304"/>
            </a:endParaRPr>
          </a:p>
        </p:txBody>
      </p:sp>
      <p:sp>
        <p:nvSpPr>
          <p:cNvPr id="3" name="TextBox 2"/>
          <p:cNvSpPr txBox="1"/>
          <p:nvPr/>
        </p:nvSpPr>
        <p:spPr>
          <a:xfrm>
            <a:off x="1134533" y="575733"/>
            <a:ext cx="2743200"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pPr algn="l"/>
            <a:r>
              <a:rPr lang="en-US" sz="2400" b="1" dirty="0">
                <a:latin typeface="Times New Roman" panose="02020603050405020304"/>
                <a:cs typeface="Times New Roman" panose="02020603050405020304"/>
              </a:rPr>
              <a:t>WORKING:</a:t>
            </a:r>
          </a:p>
        </p:txBody>
      </p:sp>
      <p:pic>
        <p:nvPicPr>
          <p:cNvPr id="5" name="Picture 4" descr="A small black electronic device&#10;&#10;Description automatically generated"/>
          <p:cNvPicPr>
            <a:picLocks noChangeAspect="1"/>
          </p:cNvPicPr>
          <p:nvPr/>
        </p:nvPicPr>
        <p:blipFill>
          <a:blip r:embed="rId2"/>
          <a:stretch>
            <a:fillRect/>
          </a:stretch>
        </p:blipFill>
        <p:spPr>
          <a:xfrm>
            <a:off x="7028463" y="1386787"/>
            <a:ext cx="4144812" cy="4918314"/>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55608" y="626853"/>
            <a:ext cx="3188898" cy="4782335"/>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US" sz="2000" b="1" dirty="0">
                <a:latin typeface="Times New Roman" panose="02020603050405020304"/>
                <a:cs typeface="Times New Roman" panose="02020603050405020304"/>
              </a:rPr>
              <a:t>AD8232ECG SENSOR</a:t>
            </a:r>
          </a:p>
          <a:p>
            <a:endParaRPr lang="en-US"/>
          </a:p>
          <a:p>
            <a:pPr>
              <a:lnSpc>
                <a:spcPct val="150000"/>
              </a:lnSpc>
            </a:pPr>
            <a:r>
              <a:rPr lang="en-US" dirty="0"/>
              <a:t> </a:t>
            </a:r>
            <a:r>
              <a:rPr lang="en-US" dirty="0">
                <a:latin typeface="Times New Roman" panose="02020603050405020304"/>
                <a:cs typeface="Times New Roman" panose="02020603050405020304"/>
              </a:rPr>
              <a:t>The AD8232 is an integrated signal conditioning block for ECG and other biopotential measurement applications. It is designed to extract, amplify, and filter small biopotential signals in the presence of noisy conditions, such as those created by motion or remote electrode placement. </a:t>
            </a:r>
          </a:p>
        </p:txBody>
      </p:sp>
      <p:pic>
        <p:nvPicPr>
          <p:cNvPr id="4" name="Picture 3" descr="A red circuit board with a black connector&#10;&#10;Description automatically generated"/>
          <p:cNvPicPr>
            <a:picLocks noChangeAspect="1"/>
          </p:cNvPicPr>
          <p:nvPr/>
        </p:nvPicPr>
        <p:blipFill>
          <a:blip r:embed="rId2"/>
          <a:stretch>
            <a:fillRect/>
          </a:stretch>
        </p:blipFill>
        <p:spPr>
          <a:xfrm>
            <a:off x="5335438" y="725068"/>
            <a:ext cx="5934973" cy="4660241"/>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85004" y="526212"/>
            <a:ext cx="10693878" cy="1489126"/>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US" sz="2000" b="1" dirty="0">
                <a:latin typeface="Times New Roman" panose="02020603050405020304"/>
                <a:cs typeface="Times New Roman" panose="02020603050405020304"/>
              </a:rPr>
              <a:t>ATMEGA328</a:t>
            </a:r>
          </a:p>
          <a:p>
            <a:endParaRPr lang="en-US" sz="2000" b="1" dirty="0">
              <a:latin typeface="Times New Roman" panose="02020603050405020304"/>
              <a:cs typeface="Times New Roman" panose="02020603050405020304"/>
            </a:endParaRPr>
          </a:p>
          <a:p>
            <a:pPr>
              <a:lnSpc>
                <a:spcPct val="150000"/>
              </a:lnSpc>
            </a:pPr>
            <a:r>
              <a:rPr lang="en-US" dirty="0"/>
              <a:t> </a:t>
            </a:r>
            <a:r>
              <a:rPr lang="en-US" dirty="0">
                <a:latin typeface="Times New Roman" panose="02020603050405020304"/>
                <a:cs typeface="Times New Roman" panose="02020603050405020304"/>
              </a:rPr>
              <a:t>The ATMEGA328 is a single-chip microcontroller created by Atmel in the </a:t>
            </a:r>
            <a:r>
              <a:rPr lang="en-US" err="1">
                <a:latin typeface="Times New Roman" panose="02020603050405020304"/>
                <a:cs typeface="Times New Roman" panose="02020603050405020304"/>
              </a:rPr>
              <a:t>megaAVR</a:t>
            </a:r>
            <a:r>
              <a:rPr lang="en-US" dirty="0">
                <a:latin typeface="Times New Roman" panose="02020603050405020304"/>
                <a:cs typeface="Times New Roman" panose="02020603050405020304"/>
              </a:rPr>
              <a:t> family (later Microchip Technology acquired Atmel in 2016). It has a modified Harvard architecture 8-bit RISC processor core. </a:t>
            </a:r>
            <a:endParaRPr lang="en-US">
              <a:latin typeface="Times New Roman" panose="02020603050405020304"/>
              <a:cs typeface="Times New Roman" panose="02020603050405020304"/>
            </a:endParaRPr>
          </a:p>
        </p:txBody>
      </p:sp>
      <p:pic>
        <p:nvPicPr>
          <p:cNvPr id="4" name="Picture 3" descr="A black and white microchip&#10;&#10;Description automatically generated"/>
          <p:cNvPicPr>
            <a:picLocks noChangeAspect="1"/>
          </p:cNvPicPr>
          <p:nvPr/>
        </p:nvPicPr>
        <p:blipFill>
          <a:blip r:embed="rId2"/>
          <a:stretch>
            <a:fillRect/>
          </a:stretch>
        </p:blipFill>
        <p:spPr>
          <a:xfrm>
            <a:off x="3802993" y="2825511"/>
            <a:ext cx="4255337" cy="298977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187571" y="655608"/>
            <a:ext cx="4799161" cy="3566617"/>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US" sz="2000" b="1" dirty="0">
                <a:latin typeface="Times New Roman" panose="02020603050405020304"/>
                <a:cs typeface="Times New Roman" panose="02020603050405020304"/>
              </a:rPr>
              <a:t>10KRESISTOR</a:t>
            </a:r>
          </a:p>
          <a:p>
            <a:endParaRPr lang="en-US" sz="2000" b="1" dirty="0">
              <a:latin typeface="Times New Roman" panose="02020603050405020304"/>
              <a:cs typeface="Times New Roman" panose="02020603050405020304"/>
            </a:endParaRPr>
          </a:p>
          <a:p>
            <a:pPr>
              <a:lnSpc>
                <a:spcPct val="150000"/>
              </a:lnSpc>
            </a:pPr>
            <a:r>
              <a:rPr lang="en-US" dirty="0"/>
              <a:t> </a:t>
            </a:r>
            <a:r>
              <a:rPr lang="en-US" dirty="0">
                <a:latin typeface="Times New Roman" panose="02020603050405020304"/>
                <a:cs typeface="Times New Roman" panose="02020603050405020304"/>
              </a:rPr>
              <a:t>A 10k resistor is a fundamental electronic component that plays a vital role in circuits by limiting the flow of electric current. Its resistance value is 10,000 ohms. These resistors are identified by a color code, typically brown-black-orange-gold, where each color represents a digit or multiplier. </a:t>
            </a:r>
            <a:endParaRPr lang="en-US">
              <a:latin typeface="Times New Roman" panose="02020603050405020304"/>
              <a:cs typeface="Times New Roman" panose="02020603050405020304"/>
            </a:endParaRPr>
          </a:p>
        </p:txBody>
      </p:sp>
      <p:pic>
        <p:nvPicPr>
          <p:cNvPr id="4" name="Picture 3" descr="A close-up of a resistor&#10;&#10;Description automatically generated"/>
          <p:cNvPicPr>
            <a:picLocks noChangeAspect="1"/>
          </p:cNvPicPr>
          <p:nvPr/>
        </p:nvPicPr>
        <p:blipFill>
          <a:blip r:embed="rId2"/>
          <a:stretch>
            <a:fillRect/>
          </a:stretch>
        </p:blipFill>
        <p:spPr>
          <a:xfrm>
            <a:off x="7657292" y="1798428"/>
            <a:ext cx="4080473" cy="4051898"/>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13759" y="1316967"/>
            <a:ext cx="4425351" cy="3120341"/>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US" sz="2000" b="1" dirty="0">
                <a:latin typeface="Times New Roman" panose="02020603050405020304"/>
                <a:cs typeface="Times New Roman" panose="02020603050405020304"/>
              </a:rPr>
              <a:t>22pFCAPACITOR</a:t>
            </a:r>
          </a:p>
          <a:p>
            <a:endParaRPr lang="en-US"/>
          </a:p>
          <a:p>
            <a:pPr>
              <a:lnSpc>
                <a:spcPct val="150000"/>
              </a:lnSpc>
            </a:pPr>
            <a:r>
              <a:rPr lang="en-US" dirty="0">
                <a:latin typeface="Times New Roman" panose="02020603050405020304"/>
                <a:cs typeface="Times New Roman" panose="02020603050405020304"/>
              </a:rPr>
              <a:t> A 22pF 50V disc type Ceramic Capacitor. Use this capacitor for power decoupling, having a smooth power in your circuit, timing circuits, etc. It is always a good idea to put one of these next to the power pins of a microcontroller. </a:t>
            </a:r>
          </a:p>
        </p:txBody>
      </p:sp>
      <p:pic>
        <p:nvPicPr>
          <p:cNvPr id="4" name="Picture 3" descr="A close-up of a capacitor&#10;&#10;Description automatically generated"/>
          <p:cNvPicPr>
            <a:picLocks noChangeAspect="1"/>
          </p:cNvPicPr>
          <p:nvPr/>
        </p:nvPicPr>
        <p:blipFill>
          <a:blip r:embed="rId2"/>
          <a:stretch>
            <a:fillRect/>
          </a:stretch>
        </p:blipFill>
        <p:spPr>
          <a:xfrm>
            <a:off x="7713005" y="1839854"/>
            <a:ext cx="3092030" cy="306327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55608" y="900023"/>
            <a:ext cx="4784785" cy="3120341"/>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US" sz="2000" b="1" dirty="0">
                <a:latin typeface="Times New Roman" panose="02020603050405020304"/>
                <a:cs typeface="Times New Roman" panose="02020603050405020304"/>
              </a:rPr>
              <a:t>IC BASE</a:t>
            </a:r>
          </a:p>
          <a:p>
            <a:endParaRPr lang="en-US" dirty="0"/>
          </a:p>
          <a:p>
            <a:pPr>
              <a:lnSpc>
                <a:spcPct val="150000"/>
              </a:lnSpc>
            </a:pPr>
            <a:r>
              <a:rPr lang="en-US" dirty="0"/>
              <a:t> </a:t>
            </a:r>
            <a:r>
              <a:rPr lang="en-US" dirty="0">
                <a:latin typeface="Times New Roman" panose="02020603050405020304"/>
                <a:cs typeface="Times New Roman" panose="02020603050405020304"/>
              </a:rPr>
              <a:t>An IC base, also known as an integrated circuit socket, is a component used to connect integrated circuits (ICs) to printed circuit boards (PCBs). IC bases are used to hold an IC or other device and make electrical connections between the device and a circuit board.  </a:t>
            </a:r>
            <a:endParaRPr lang="en-US">
              <a:latin typeface="Times New Roman" panose="02020603050405020304"/>
              <a:cs typeface="Times New Roman" panose="02020603050405020304"/>
            </a:endParaRPr>
          </a:p>
        </p:txBody>
      </p:sp>
      <p:pic>
        <p:nvPicPr>
          <p:cNvPr id="4" name="Picture 3"/>
          <p:cNvPicPr>
            <a:picLocks noChangeAspect="1"/>
          </p:cNvPicPr>
          <p:nvPr/>
        </p:nvPicPr>
        <p:blipFill>
          <a:blip r:embed="rId2"/>
          <a:stretch>
            <a:fillRect/>
          </a:stretch>
        </p:blipFill>
        <p:spPr>
          <a:xfrm>
            <a:off x="6993417" y="689575"/>
            <a:ext cx="4315543" cy="474560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24929" y="152400"/>
            <a:ext cx="301636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US" sz="2000" b="1" dirty="0">
                <a:latin typeface="Times New Roman" panose="02020603050405020304"/>
                <a:cs typeface="Times New Roman" panose="02020603050405020304"/>
              </a:rPr>
              <a:t>PROGRAM CODE:- </a:t>
            </a:r>
          </a:p>
        </p:txBody>
      </p:sp>
      <p:sp>
        <p:nvSpPr>
          <p:cNvPr id="3" name="Text Box 2"/>
          <p:cNvSpPr txBox="1"/>
          <p:nvPr/>
        </p:nvSpPr>
        <p:spPr>
          <a:xfrm>
            <a:off x="943610" y="552450"/>
            <a:ext cx="9340850" cy="6492875"/>
          </a:xfrm>
          <a:prstGeom prst="rect">
            <a:avLst/>
          </a:prstGeom>
          <a:noFill/>
        </p:spPr>
        <p:txBody>
          <a:bodyPr wrap="square" rtlCol="0">
            <a:spAutoFit/>
          </a:bodyPr>
          <a:lstStyle/>
          <a:p>
            <a:pPr algn="l" rtl="0" fontAlgn="base"/>
            <a:r>
              <a:rPr lang="en-US" sz="1600" dirty="0">
                <a:effectLst/>
                <a:latin typeface="Times New Roman" panose="02020603050405020304" charset="0"/>
                <a:cs typeface="Times New Roman" panose="02020603050405020304" charset="0"/>
                <a:sym typeface="+mn-ea"/>
                <a:hlinkClick r:id="rId3"/>
              </a:rPr>
              <a:t>#include</a:t>
            </a:r>
            <a:r>
              <a:rPr lang="en-US" sz="1600" dirty="0">
                <a:effectLst/>
                <a:latin typeface="Times New Roman" panose="02020603050405020304" charset="0"/>
                <a:cs typeface="Times New Roman" panose="02020603050405020304" charset="0"/>
                <a:sym typeface="+mn-ea"/>
              </a:rPr>
              <a:t> &lt;</a:t>
            </a:r>
            <a:r>
              <a:rPr lang="en-US" sz="1600" dirty="0" err="1">
                <a:effectLst/>
                <a:latin typeface="Times New Roman" panose="02020603050405020304" charset="0"/>
                <a:cs typeface="Times New Roman" panose="02020603050405020304" charset="0"/>
                <a:sym typeface="+mn-ea"/>
              </a:rPr>
              <a:t>Servo.h</a:t>
            </a:r>
            <a:r>
              <a:rPr lang="en-US" sz="1600" dirty="0">
                <a:effectLst/>
                <a:latin typeface="Times New Roman" panose="02020603050405020304" charset="0"/>
                <a:cs typeface="Times New Roman" panose="02020603050405020304" charset="0"/>
                <a:sym typeface="+mn-ea"/>
              </a:rPr>
              <a:t>&gt;</a:t>
            </a:r>
            <a:endParaRPr lang="en-US" sz="1600" b="0" i="0" dirty="0">
              <a:effectLst/>
              <a:latin typeface="Times New Roman" panose="02020603050405020304" charset="0"/>
              <a:cs typeface="Times New Roman" panose="02020603050405020304" charset="0"/>
            </a:endParaRPr>
          </a:p>
          <a:p>
            <a:pPr algn="l" fontAlgn="base"/>
            <a:br>
              <a:rPr lang="en-US" sz="1600" dirty="0">
                <a:effectLst/>
                <a:latin typeface="Times New Roman" panose="02020603050405020304" charset="0"/>
                <a:cs typeface="Times New Roman" panose="02020603050405020304" charset="0"/>
                <a:sym typeface="+mn-ea"/>
              </a:rPr>
            </a:br>
            <a:endParaRPr lang="en-US" sz="1600" b="0" i="0" dirty="0">
              <a:effectLst/>
              <a:latin typeface="Times New Roman" panose="02020603050405020304" charset="0"/>
              <a:cs typeface="Times New Roman" panose="02020603050405020304" charset="0"/>
            </a:endParaRPr>
          </a:p>
          <a:p>
            <a:pPr algn="l" rtl="0" fontAlgn="base"/>
            <a:r>
              <a:rPr lang="en-US" sz="1600" dirty="0">
                <a:effectLst/>
                <a:latin typeface="Times New Roman" panose="02020603050405020304" charset="0"/>
                <a:cs typeface="Times New Roman" panose="02020603050405020304" charset="0"/>
                <a:sym typeface="+mn-ea"/>
                <a:hlinkClick r:id="rId4"/>
              </a:rPr>
              <a:t>#define</a:t>
            </a:r>
            <a:r>
              <a:rPr lang="en-US" sz="1600" dirty="0">
                <a:effectLst/>
                <a:latin typeface="Times New Roman" panose="02020603050405020304" charset="0"/>
                <a:cs typeface="Times New Roman" panose="02020603050405020304" charset="0"/>
                <a:sym typeface="+mn-ea"/>
              </a:rPr>
              <a:t> THRESHOLD 150 //In order to determine the state of the hand (opened/closed)</a:t>
            </a:r>
            <a:endParaRPr lang="en-US" sz="1600" b="0" i="0" dirty="0">
              <a:effectLst/>
              <a:latin typeface="Times New Roman" panose="02020603050405020304" charset="0"/>
              <a:cs typeface="Times New Roman" panose="02020603050405020304" charset="0"/>
            </a:endParaRPr>
          </a:p>
          <a:p>
            <a:pPr algn="l" rtl="0" fontAlgn="base"/>
            <a:r>
              <a:rPr lang="en-US" sz="1600" dirty="0">
                <a:effectLst/>
                <a:latin typeface="Times New Roman" panose="02020603050405020304" charset="0"/>
                <a:cs typeface="Times New Roman" panose="02020603050405020304" charset="0"/>
                <a:sym typeface="+mn-ea"/>
                <a:hlinkClick r:id="rId4"/>
              </a:rPr>
              <a:t>#define</a:t>
            </a:r>
            <a:r>
              <a:rPr lang="en-US" sz="1600" dirty="0">
                <a:effectLst/>
                <a:latin typeface="Times New Roman" panose="02020603050405020304" charset="0"/>
                <a:cs typeface="Times New Roman" panose="02020603050405020304" charset="0"/>
                <a:sym typeface="+mn-ea"/>
              </a:rPr>
              <a:t> EMGPIN 3 //Analog pin connected to Muscle Sensor V3 Board</a:t>
            </a:r>
            <a:endParaRPr lang="en-US" sz="1600" b="0" i="0" dirty="0">
              <a:effectLst/>
              <a:latin typeface="Times New Roman" panose="02020603050405020304" charset="0"/>
              <a:cs typeface="Times New Roman" panose="02020603050405020304" charset="0"/>
            </a:endParaRPr>
          </a:p>
          <a:p>
            <a:pPr algn="l" rtl="0" fontAlgn="base"/>
            <a:r>
              <a:rPr lang="en-US" sz="1600" dirty="0">
                <a:effectLst/>
                <a:latin typeface="Times New Roman" panose="02020603050405020304" charset="0"/>
                <a:cs typeface="Times New Roman" panose="02020603050405020304" charset="0"/>
                <a:sym typeface="+mn-ea"/>
                <a:hlinkClick r:id="rId4"/>
              </a:rPr>
              <a:t>#define</a:t>
            </a:r>
            <a:r>
              <a:rPr lang="en-US" sz="1600" dirty="0">
                <a:effectLst/>
                <a:latin typeface="Times New Roman" panose="02020603050405020304" charset="0"/>
                <a:cs typeface="Times New Roman" panose="02020603050405020304" charset="0"/>
                <a:sym typeface="+mn-ea"/>
              </a:rPr>
              <a:t> LITTLEPIN 2 //Digital pin used by Little servo</a:t>
            </a:r>
            <a:endParaRPr lang="en-US" sz="1600" b="0" i="0" dirty="0">
              <a:effectLst/>
              <a:latin typeface="Times New Roman" panose="02020603050405020304" charset="0"/>
              <a:cs typeface="Times New Roman" panose="02020603050405020304" charset="0"/>
            </a:endParaRPr>
          </a:p>
          <a:p>
            <a:pPr algn="l" rtl="0" fontAlgn="base"/>
            <a:r>
              <a:rPr lang="en-US" sz="1600" dirty="0">
                <a:effectLst/>
                <a:latin typeface="Times New Roman" panose="02020603050405020304" charset="0"/>
                <a:cs typeface="Times New Roman" panose="02020603050405020304" charset="0"/>
                <a:sym typeface="+mn-ea"/>
                <a:hlinkClick r:id="rId4"/>
              </a:rPr>
              <a:t>#define</a:t>
            </a:r>
            <a:r>
              <a:rPr lang="en-US" sz="1600" dirty="0">
                <a:effectLst/>
                <a:latin typeface="Times New Roman" panose="02020603050405020304" charset="0"/>
                <a:cs typeface="Times New Roman" panose="02020603050405020304" charset="0"/>
                <a:sym typeface="+mn-ea"/>
              </a:rPr>
              <a:t> RINGPIN 3 //Digital pin used by Ring servo</a:t>
            </a:r>
            <a:endParaRPr lang="en-US" sz="1600" b="0" i="0" dirty="0">
              <a:effectLst/>
              <a:latin typeface="Times New Roman" panose="02020603050405020304" charset="0"/>
              <a:cs typeface="Times New Roman" panose="02020603050405020304" charset="0"/>
            </a:endParaRPr>
          </a:p>
          <a:p>
            <a:pPr algn="l" rtl="0" fontAlgn="base"/>
            <a:r>
              <a:rPr lang="en-US" sz="1600" dirty="0">
                <a:effectLst/>
                <a:latin typeface="Times New Roman" panose="02020603050405020304" charset="0"/>
                <a:cs typeface="Times New Roman" panose="02020603050405020304" charset="0"/>
                <a:sym typeface="+mn-ea"/>
                <a:hlinkClick r:id="rId4"/>
              </a:rPr>
              <a:t>#define</a:t>
            </a:r>
            <a:r>
              <a:rPr lang="en-US" sz="1600" dirty="0">
                <a:effectLst/>
                <a:latin typeface="Times New Roman" panose="02020603050405020304" charset="0"/>
                <a:cs typeface="Times New Roman" panose="02020603050405020304" charset="0"/>
                <a:sym typeface="+mn-ea"/>
              </a:rPr>
              <a:t> MIDDLEPIN 4 //Digital pin used by Middle servo</a:t>
            </a:r>
            <a:endParaRPr lang="en-US" sz="1600" b="0" i="0" dirty="0">
              <a:effectLst/>
              <a:latin typeface="Times New Roman" panose="02020603050405020304" charset="0"/>
              <a:cs typeface="Times New Roman" panose="02020603050405020304" charset="0"/>
            </a:endParaRPr>
          </a:p>
          <a:p>
            <a:pPr algn="l" rtl="0" fontAlgn="base"/>
            <a:r>
              <a:rPr lang="en-US" sz="1600" dirty="0">
                <a:effectLst/>
                <a:latin typeface="Times New Roman" panose="02020603050405020304" charset="0"/>
                <a:cs typeface="Times New Roman" panose="02020603050405020304" charset="0"/>
                <a:sym typeface="+mn-ea"/>
                <a:hlinkClick r:id="rId4"/>
              </a:rPr>
              <a:t>#define</a:t>
            </a:r>
            <a:r>
              <a:rPr lang="en-US" sz="1600" dirty="0">
                <a:effectLst/>
                <a:latin typeface="Times New Roman" panose="02020603050405020304" charset="0"/>
                <a:cs typeface="Times New Roman" panose="02020603050405020304" charset="0"/>
                <a:sym typeface="+mn-ea"/>
              </a:rPr>
              <a:t> INDEXPIN 5 //Digital pin used by Index servo</a:t>
            </a:r>
            <a:endParaRPr lang="en-US" sz="1600" b="0" i="0" dirty="0">
              <a:effectLst/>
              <a:latin typeface="Times New Roman" panose="02020603050405020304" charset="0"/>
              <a:cs typeface="Times New Roman" panose="02020603050405020304" charset="0"/>
            </a:endParaRPr>
          </a:p>
          <a:p>
            <a:pPr algn="l" rtl="0" fontAlgn="base"/>
            <a:r>
              <a:rPr lang="en-US" sz="1600" dirty="0">
                <a:effectLst/>
                <a:latin typeface="Times New Roman" panose="02020603050405020304" charset="0"/>
                <a:cs typeface="Times New Roman" panose="02020603050405020304" charset="0"/>
                <a:sym typeface="+mn-ea"/>
                <a:hlinkClick r:id="rId4"/>
              </a:rPr>
              <a:t>#define</a:t>
            </a:r>
            <a:r>
              <a:rPr lang="en-US" sz="1600" dirty="0">
                <a:effectLst/>
                <a:latin typeface="Times New Roman" panose="02020603050405020304" charset="0"/>
                <a:cs typeface="Times New Roman" panose="02020603050405020304" charset="0"/>
                <a:sym typeface="+mn-ea"/>
              </a:rPr>
              <a:t> THUMBPIN 6 //Digital pin used by Thumb servo</a:t>
            </a:r>
            <a:endParaRPr lang="en-US" sz="1600" b="0" i="0" dirty="0">
              <a:effectLst/>
              <a:latin typeface="Times New Roman" panose="02020603050405020304" charset="0"/>
              <a:cs typeface="Times New Roman" panose="02020603050405020304" charset="0"/>
            </a:endParaRPr>
          </a:p>
          <a:p>
            <a:pPr algn="l" fontAlgn="base"/>
            <a:br>
              <a:rPr lang="en-US" sz="1600" dirty="0">
                <a:effectLst/>
                <a:latin typeface="Times New Roman" panose="02020603050405020304" charset="0"/>
                <a:cs typeface="Times New Roman" panose="02020603050405020304" charset="0"/>
                <a:sym typeface="+mn-ea"/>
              </a:rPr>
            </a:br>
            <a:endParaRPr lang="en-US" sz="1600" b="0" i="0" dirty="0">
              <a:effectLst/>
              <a:latin typeface="Times New Roman" panose="02020603050405020304" charset="0"/>
              <a:cs typeface="Times New Roman" panose="02020603050405020304" charset="0"/>
            </a:endParaRPr>
          </a:p>
          <a:p>
            <a:pPr algn="l" rtl="0" fontAlgn="base"/>
            <a:r>
              <a:rPr lang="en-US" sz="1600" dirty="0">
                <a:effectLst/>
                <a:latin typeface="Times New Roman" panose="02020603050405020304" charset="0"/>
                <a:cs typeface="Times New Roman" panose="02020603050405020304" charset="0"/>
                <a:sym typeface="+mn-ea"/>
              </a:rPr>
              <a:t>//Constants used to open and close the fingers</a:t>
            </a:r>
            <a:endParaRPr lang="en-US" sz="1600" b="0" i="0" dirty="0">
              <a:effectLst/>
              <a:latin typeface="Times New Roman" panose="02020603050405020304" charset="0"/>
              <a:cs typeface="Times New Roman" panose="02020603050405020304" charset="0"/>
            </a:endParaRPr>
          </a:p>
          <a:p>
            <a:pPr algn="l" rtl="0" fontAlgn="base"/>
            <a:r>
              <a:rPr lang="en-US" sz="1600" dirty="0">
                <a:effectLst/>
                <a:latin typeface="Times New Roman" panose="02020603050405020304" charset="0"/>
                <a:cs typeface="Times New Roman" panose="02020603050405020304" charset="0"/>
                <a:sym typeface="+mn-ea"/>
                <a:hlinkClick r:id="rId4"/>
              </a:rPr>
              <a:t>#define</a:t>
            </a:r>
            <a:r>
              <a:rPr lang="en-US" sz="1600" dirty="0">
                <a:effectLst/>
                <a:latin typeface="Times New Roman" panose="02020603050405020304" charset="0"/>
                <a:cs typeface="Times New Roman" panose="02020603050405020304" charset="0"/>
                <a:sym typeface="+mn-ea"/>
              </a:rPr>
              <a:t> LITTLE 1 </a:t>
            </a:r>
            <a:endParaRPr lang="en-US" sz="1600" b="0" i="0" dirty="0">
              <a:effectLst/>
              <a:latin typeface="Times New Roman" panose="02020603050405020304" charset="0"/>
              <a:cs typeface="Times New Roman" panose="02020603050405020304" charset="0"/>
            </a:endParaRPr>
          </a:p>
          <a:p>
            <a:pPr algn="l" rtl="0" fontAlgn="base"/>
            <a:r>
              <a:rPr lang="en-US" sz="1600" dirty="0">
                <a:effectLst/>
                <a:latin typeface="Times New Roman" panose="02020603050405020304" charset="0"/>
                <a:cs typeface="Times New Roman" panose="02020603050405020304" charset="0"/>
                <a:sym typeface="+mn-ea"/>
                <a:hlinkClick r:id="rId4"/>
              </a:rPr>
              <a:t>#define</a:t>
            </a:r>
            <a:r>
              <a:rPr lang="en-US" sz="1600" dirty="0">
                <a:effectLst/>
                <a:latin typeface="Times New Roman" panose="02020603050405020304" charset="0"/>
                <a:cs typeface="Times New Roman" panose="02020603050405020304" charset="0"/>
                <a:sym typeface="+mn-ea"/>
              </a:rPr>
              <a:t> RING 2</a:t>
            </a:r>
            <a:endParaRPr lang="en-US" sz="1600" b="0" i="0" dirty="0">
              <a:effectLst/>
              <a:latin typeface="Times New Roman" panose="02020603050405020304" charset="0"/>
              <a:cs typeface="Times New Roman" panose="02020603050405020304" charset="0"/>
            </a:endParaRPr>
          </a:p>
          <a:p>
            <a:pPr algn="l" rtl="0" fontAlgn="base"/>
            <a:r>
              <a:rPr lang="en-US" sz="1600" dirty="0">
                <a:effectLst/>
                <a:latin typeface="Times New Roman" panose="02020603050405020304" charset="0"/>
                <a:cs typeface="Times New Roman" panose="02020603050405020304" charset="0"/>
                <a:sym typeface="+mn-ea"/>
                <a:hlinkClick r:id="rId4"/>
              </a:rPr>
              <a:t>#define</a:t>
            </a:r>
            <a:r>
              <a:rPr lang="en-US" sz="1600" dirty="0">
                <a:effectLst/>
                <a:latin typeface="Times New Roman" panose="02020603050405020304" charset="0"/>
                <a:cs typeface="Times New Roman" panose="02020603050405020304" charset="0"/>
                <a:sym typeface="+mn-ea"/>
              </a:rPr>
              <a:t> MIDDLE 3</a:t>
            </a:r>
            <a:endParaRPr lang="en-US" sz="1600" b="0" i="0" dirty="0">
              <a:effectLst/>
              <a:latin typeface="Times New Roman" panose="02020603050405020304" charset="0"/>
              <a:cs typeface="Times New Roman" panose="02020603050405020304" charset="0"/>
            </a:endParaRPr>
          </a:p>
          <a:p>
            <a:pPr algn="l" rtl="0" fontAlgn="base"/>
            <a:r>
              <a:rPr lang="en-US" sz="1600" dirty="0">
                <a:effectLst/>
                <a:latin typeface="Times New Roman" panose="02020603050405020304" charset="0"/>
                <a:cs typeface="Times New Roman" panose="02020603050405020304" charset="0"/>
                <a:sym typeface="+mn-ea"/>
                <a:hlinkClick r:id="rId4"/>
              </a:rPr>
              <a:t>#define</a:t>
            </a:r>
            <a:r>
              <a:rPr lang="en-US" sz="1600" dirty="0">
                <a:effectLst/>
                <a:latin typeface="Times New Roman" panose="02020603050405020304" charset="0"/>
                <a:cs typeface="Times New Roman" panose="02020603050405020304" charset="0"/>
                <a:sym typeface="+mn-ea"/>
              </a:rPr>
              <a:t> INDEX 4</a:t>
            </a:r>
            <a:endParaRPr lang="en-US" sz="1600" b="0" i="0" dirty="0">
              <a:effectLst/>
              <a:latin typeface="Times New Roman" panose="02020603050405020304" charset="0"/>
              <a:cs typeface="Times New Roman" panose="02020603050405020304" charset="0"/>
            </a:endParaRPr>
          </a:p>
          <a:p>
            <a:pPr algn="l" rtl="0" fontAlgn="base"/>
            <a:r>
              <a:rPr lang="en-US" sz="1600" dirty="0">
                <a:effectLst/>
                <a:latin typeface="Times New Roman" panose="02020603050405020304" charset="0"/>
                <a:cs typeface="Times New Roman" panose="02020603050405020304" charset="0"/>
                <a:sym typeface="+mn-ea"/>
                <a:hlinkClick r:id="rId4"/>
              </a:rPr>
              <a:t>#define</a:t>
            </a:r>
            <a:r>
              <a:rPr lang="en-US" sz="1600" dirty="0">
                <a:effectLst/>
                <a:latin typeface="Times New Roman" panose="02020603050405020304" charset="0"/>
                <a:cs typeface="Times New Roman" panose="02020603050405020304" charset="0"/>
                <a:sym typeface="+mn-ea"/>
              </a:rPr>
              <a:t> THUMB 5</a:t>
            </a:r>
            <a:endParaRPr lang="en-US" sz="1600" b="0" i="0" dirty="0">
              <a:effectLst/>
              <a:latin typeface="Times New Roman" panose="02020603050405020304" charset="0"/>
              <a:cs typeface="Times New Roman" panose="02020603050405020304" charset="0"/>
            </a:endParaRPr>
          </a:p>
          <a:p>
            <a:pPr algn="l" fontAlgn="base"/>
            <a:br>
              <a:rPr lang="en-US" sz="1600" dirty="0">
                <a:effectLst/>
                <a:latin typeface="Times New Roman" panose="02020603050405020304" charset="0"/>
                <a:cs typeface="Times New Roman" panose="02020603050405020304" charset="0"/>
                <a:sym typeface="+mn-ea"/>
              </a:rPr>
            </a:br>
            <a:endParaRPr lang="en-US" sz="1600" b="0" i="0" dirty="0">
              <a:effectLst/>
              <a:latin typeface="Times New Roman" panose="02020603050405020304" charset="0"/>
              <a:cs typeface="Times New Roman" panose="02020603050405020304" charset="0"/>
            </a:endParaRPr>
          </a:p>
          <a:p>
            <a:pPr algn="l" rtl="0" fontAlgn="base"/>
            <a:r>
              <a:rPr lang="en-US" sz="1600" dirty="0">
                <a:effectLst/>
                <a:latin typeface="Times New Roman" panose="02020603050405020304" charset="0"/>
                <a:cs typeface="Times New Roman" panose="02020603050405020304" charset="0"/>
                <a:sym typeface="+mn-ea"/>
              </a:rPr>
              <a:t>Servo </a:t>
            </a:r>
            <a:r>
              <a:rPr lang="en-US" sz="1600" dirty="0" err="1">
                <a:effectLst/>
                <a:latin typeface="Times New Roman" panose="02020603050405020304" charset="0"/>
                <a:cs typeface="Times New Roman" panose="02020603050405020304" charset="0"/>
                <a:sym typeface="+mn-ea"/>
              </a:rPr>
              <a:t>servoLittleFinger</a:t>
            </a:r>
            <a:r>
              <a:rPr lang="en-US" sz="1600" dirty="0">
                <a:effectLst/>
                <a:latin typeface="Times New Roman" panose="02020603050405020304" charset="0"/>
                <a:cs typeface="Times New Roman" panose="02020603050405020304" charset="0"/>
                <a:sym typeface="+mn-ea"/>
              </a:rPr>
              <a:t>; // Define servo fingers</a:t>
            </a:r>
            <a:endParaRPr lang="en-US" sz="1600" b="0" i="0" dirty="0">
              <a:effectLst/>
              <a:latin typeface="Times New Roman" panose="02020603050405020304" charset="0"/>
              <a:cs typeface="Times New Roman" panose="02020603050405020304" charset="0"/>
            </a:endParaRPr>
          </a:p>
          <a:p>
            <a:pPr algn="l" rtl="0" fontAlgn="base"/>
            <a:r>
              <a:rPr lang="en-US" sz="1600" dirty="0">
                <a:effectLst/>
                <a:latin typeface="Times New Roman" panose="02020603050405020304" charset="0"/>
                <a:cs typeface="Times New Roman" panose="02020603050405020304" charset="0"/>
                <a:sym typeface="+mn-ea"/>
              </a:rPr>
              <a:t>Servo </a:t>
            </a:r>
            <a:r>
              <a:rPr lang="en-US" sz="1600" dirty="0" err="1">
                <a:effectLst/>
                <a:latin typeface="Times New Roman" panose="02020603050405020304" charset="0"/>
                <a:cs typeface="Times New Roman" panose="02020603050405020304" charset="0"/>
                <a:sym typeface="+mn-ea"/>
              </a:rPr>
              <a:t>servoRingFinger</a:t>
            </a:r>
            <a:r>
              <a:rPr lang="en-US" sz="1600" dirty="0">
                <a:effectLst/>
                <a:latin typeface="Times New Roman" panose="02020603050405020304" charset="0"/>
                <a:cs typeface="Times New Roman" panose="02020603050405020304" charset="0"/>
                <a:sym typeface="+mn-ea"/>
              </a:rPr>
              <a:t>; // Define servo fingers</a:t>
            </a:r>
            <a:endParaRPr lang="en-US" sz="1600" b="0" i="0" dirty="0">
              <a:effectLst/>
              <a:latin typeface="Times New Roman" panose="02020603050405020304" charset="0"/>
              <a:cs typeface="Times New Roman" panose="02020603050405020304" charset="0"/>
            </a:endParaRPr>
          </a:p>
          <a:p>
            <a:pPr algn="l" rtl="0" fontAlgn="base"/>
            <a:r>
              <a:rPr lang="en-US" sz="1600" dirty="0">
                <a:effectLst/>
                <a:latin typeface="Times New Roman" panose="02020603050405020304" charset="0"/>
                <a:cs typeface="Times New Roman" panose="02020603050405020304" charset="0"/>
                <a:sym typeface="+mn-ea"/>
              </a:rPr>
              <a:t>Servo </a:t>
            </a:r>
            <a:r>
              <a:rPr lang="en-US" sz="1600" dirty="0" err="1">
                <a:effectLst/>
                <a:latin typeface="Times New Roman" panose="02020603050405020304" charset="0"/>
                <a:cs typeface="Times New Roman" panose="02020603050405020304" charset="0"/>
                <a:sym typeface="+mn-ea"/>
              </a:rPr>
              <a:t>servoMiddleFinger</a:t>
            </a:r>
            <a:r>
              <a:rPr lang="en-US" sz="1600" dirty="0">
                <a:effectLst/>
                <a:latin typeface="Times New Roman" panose="02020603050405020304" charset="0"/>
                <a:cs typeface="Times New Roman" panose="02020603050405020304" charset="0"/>
                <a:sym typeface="+mn-ea"/>
              </a:rPr>
              <a:t>; // Define servo fingers</a:t>
            </a:r>
            <a:endParaRPr lang="en-US" sz="1600" b="0" i="0" dirty="0">
              <a:effectLst/>
              <a:latin typeface="Times New Roman" panose="02020603050405020304" charset="0"/>
              <a:cs typeface="Times New Roman" panose="02020603050405020304" charset="0"/>
            </a:endParaRPr>
          </a:p>
          <a:p>
            <a:pPr algn="l" rtl="0" fontAlgn="base"/>
            <a:r>
              <a:rPr lang="en-US" sz="1600" dirty="0">
                <a:effectLst/>
                <a:latin typeface="Times New Roman" panose="02020603050405020304" charset="0"/>
                <a:cs typeface="Times New Roman" panose="02020603050405020304" charset="0"/>
                <a:sym typeface="+mn-ea"/>
              </a:rPr>
              <a:t>Servo </a:t>
            </a:r>
            <a:r>
              <a:rPr lang="en-US" sz="1600" dirty="0" err="1">
                <a:effectLst/>
                <a:latin typeface="Times New Roman" panose="02020603050405020304" charset="0"/>
                <a:cs typeface="Times New Roman" panose="02020603050405020304" charset="0"/>
                <a:sym typeface="+mn-ea"/>
              </a:rPr>
              <a:t>servoIndexFinger</a:t>
            </a:r>
            <a:r>
              <a:rPr lang="en-US" sz="1600" dirty="0">
                <a:effectLst/>
                <a:latin typeface="Times New Roman" panose="02020603050405020304" charset="0"/>
                <a:cs typeface="Times New Roman" panose="02020603050405020304" charset="0"/>
                <a:sym typeface="+mn-ea"/>
              </a:rPr>
              <a:t>; // Define servo fingers</a:t>
            </a:r>
            <a:endParaRPr lang="en-US" sz="1600" b="0" i="0" dirty="0">
              <a:effectLst/>
              <a:latin typeface="Times New Roman" panose="02020603050405020304" charset="0"/>
              <a:cs typeface="Times New Roman" panose="02020603050405020304" charset="0"/>
            </a:endParaRPr>
          </a:p>
          <a:p>
            <a:pPr algn="l" rtl="0" fontAlgn="base"/>
            <a:r>
              <a:rPr lang="en-US" sz="1600" dirty="0">
                <a:effectLst/>
                <a:latin typeface="Times New Roman" panose="02020603050405020304" charset="0"/>
                <a:cs typeface="Times New Roman" panose="02020603050405020304" charset="0"/>
                <a:sym typeface="+mn-ea"/>
              </a:rPr>
              <a:t>Servo </a:t>
            </a:r>
            <a:r>
              <a:rPr lang="en-US" sz="1600" dirty="0" err="1">
                <a:effectLst/>
                <a:latin typeface="Times New Roman" panose="02020603050405020304" charset="0"/>
                <a:cs typeface="Times New Roman" panose="02020603050405020304" charset="0"/>
                <a:sym typeface="+mn-ea"/>
              </a:rPr>
              <a:t>servoThumbFinger</a:t>
            </a:r>
            <a:r>
              <a:rPr lang="en-US" sz="1600" dirty="0">
                <a:effectLst/>
                <a:latin typeface="Times New Roman" panose="02020603050405020304" charset="0"/>
                <a:cs typeface="Times New Roman" panose="02020603050405020304" charset="0"/>
                <a:sym typeface="+mn-ea"/>
              </a:rPr>
              <a:t>; // Define servo fingers</a:t>
            </a:r>
            <a:endParaRPr lang="en-US" sz="1600" b="0" i="0" dirty="0">
              <a:effectLst/>
              <a:latin typeface="Times New Roman" panose="02020603050405020304" charset="0"/>
              <a:cs typeface="Times New Roman" panose="02020603050405020304" charset="0"/>
            </a:endParaRPr>
          </a:p>
          <a:p>
            <a:endParaRPr lang="en-US" sz="1600" dirty="0">
              <a:latin typeface="Times New Roman" panose="02020603050405020304" charset="0"/>
              <a:cs typeface="Times New Roman" panose="02020603050405020304"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0" y="395605"/>
            <a:ext cx="12361545" cy="6791960"/>
          </a:xfrm>
          <a:prstGeom prst="rect">
            <a:avLst/>
          </a:prstGeom>
          <a:noFill/>
        </p:spPr>
        <p:txBody>
          <a:bodyPr wrap="square" rtlCol="0" anchor="t">
            <a:spAutoFit/>
          </a:bodyPr>
          <a:lstStyle/>
          <a:p>
            <a:pPr algn="l" rtl="0" fontAlgn="base">
              <a:lnSpc>
                <a:spcPct val="110000"/>
              </a:lnSpc>
            </a:pPr>
            <a:r>
              <a:rPr lang="en-US" dirty="0">
                <a:effectLst/>
                <a:latin typeface="Times New Roman" panose="02020603050405020304" charset="0"/>
                <a:cs typeface="Times New Roman" panose="02020603050405020304" charset="0"/>
                <a:sym typeface="+mn-ea"/>
              </a:rPr>
              <a:t>int finger;</a:t>
            </a:r>
            <a:endParaRPr lang="en-US" dirty="0">
              <a:effectLst/>
              <a:latin typeface="Times New Roman" panose="02020603050405020304" charset="0"/>
              <a:cs typeface="Times New Roman" panose="02020603050405020304" charset="0"/>
            </a:endParaRPr>
          </a:p>
          <a:p>
            <a:pPr algn="l" fontAlgn="base">
              <a:lnSpc>
                <a:spcPct val="110000"/>
              </a:lnSpc>
            </a:pPr>
            <a:br>
              <a:rPr lang="en-US" dirty="0">
                <a:effectLst/>
                <a:latin typeface="Times New Roman" panose="02020603050405020304" charset="0"/>
                <a:cs typeface="Times New Roman" panose="02020603050405020304" charset="0"/>
                <a:sym typeface="+mn-ea"/>
              </a:rPr>
            </a:br>
            <a:endParaRPr lang="en-US" dirty="0">
              <a:effectLst/>
              <a:latin typeface="Times New Roman" panose="02020603050405020304" charset="0"/>
              <a:cs typeface="Times New Roman" panose="02020603050405020304" charset="0"/>
            </a:endParaRPr>
          </a:p>
          <a:p>
            <a:pPr algn="l" rtl="0" fontAlgn="base">
              <a:lnSpc>
                <a:spcPct val="110000"/>
              </a:lnSpc>
            </a:pPr>
            <a:r>
              <a:rPr lang="en-US" dirty="0">
                <a:effectLst/>
                <a:latin typeface="Times New Roman" panose="02020603050405020304" charset="0"/>
                <a:cs typeface="Times New Roman" panose="02020603050405020304" charset="0"/>
                <a:sym typeface="+mn-ea"/>
              </a:rPr>
              <a:t>// Motion routines for </a:t>
            </a:r>
            <a:r>
              <a:rPr lang="en-US" dirty="0" err="1">
                <a:effectLst/>
                <a:latin typeface="Times New Roman" panose="02020603050405020304" charset="0"/>
                <a:cs typeface="Times New Roman" panose="02020603050405020304" charset="0"/>
                <a:sym typeface="+mn-ea"/>
              </a:rPr>
              <a:t>handopen</a:t>
            </a:r>
            <a:r>
              <a:rPr lang="en-US" dirty="0">
                <a:effectLst/>
                <a:latin typeface="Times New Roman" panose="02020603050405020304" charset="0"/>
                <a:cs typeface="Times New Roman" panose="02020603050405020304" charset="0"/>
                <a:sym typeface="+mn-ea"/>
              </a:rPr>
              <a:t> and </a:t>
            </a:r>
            <a:r>
              <a:rPr lang="en-US" dirty="0" err="1">
                <a:effectLst/>
                <a:latin typeface="Times New Roman" panose="02020603050405020304" charset="0"/>
                <a:cs typeface="Times New Roman" panose="02020603050405020304" charset="0"/>
                <a:sym typeface="+mn-ea"/>
              </a:rPr>
              <a:t>handclose</a:t>
            </a:r>
            <a:endParaRPr lang="en-US" dirty="0">
              <a:effectLst/>
              <a:latin typeface="Times New Roman" panose="02020603050405020304" charset="0"/>
              <a:cs typeface="Times New Roman" panose="02020603050405020304" charset="0"/>
            </a:endParaRPr>
          </a:p>
          <a:p>
            <a:pPr algn="l" rtl="0" fontAlgn="base">
              <a:lnSpc>
                <a:spcPct val="110000"/>
              </a:lnSpc>
            </a:pPr>
            <a:r>
              <a:rPr lang="en-US" dirty="0">
                <a:effectLst/>
                <a:latin typeface="Times New Roman" panose="02020603050405020304" charset="0"/>
                <a:cs typeface="Times New Roman" panose="02020603050405020304" charset="0"/>
                <a:sym typeface="+mn-ea"/>
              </a:rPr>
              <a:t>void openhand(){for(finger = 1; finger &lt; 6; finger++){</a:t>
            </a:r>
            <a:r>
              <a:rPr lang="en-US" dirty="0" err="1">
                <a:effectLst/>
                <a:latin typeface="Times New Roman" panose="02020603050405020304" charset="0"/>
                <a:cs typeface="Times New Roman" panose="02020603050405020304" charset="0"/>
                <a:sym typeface="+mn-ea"/>
              </a:rPr>
              <a:t>openFinger</a:t>
            </a:r>
            <a:r>
              <a:rPr lang="en-US" dirty="0">
                <a:effectLst/>
                <a:latin typeface="Times New Roman" panose="02020603050405020304" charset="0"/>
                <a:cs typeface="Times New Roman" panose="02020603050405020304" charset="0"/>
                <a:sym typeface="+mn-ea"/>
              </a:rPr>
              <a:t>(finger);}}</a:t>
            </a:r>
            <a:endParaRPr lang="en-US" dirty="0">
              <a:effectLst/>
              <a:latin typeface="Times New Roman" panose="02020603050405020304" charset="0"/>
              <a:cs typeface="Times New Roman" panose="02020603050405020304" charset="0"/>
            </a:endParaRPr>
          </a:p>
          <a:p>
            <a:pPr algn="l" rtl="0" fontAlgn="base">
              <a:lnSpc>
                <a:spcPct val="110000"/>
              </a:lnSpc>
            </a:pPr>
            <a:r>
              <a:rPr lang="en-US" dirty="0">
                <a:effectLst/>
                <a:latin typeface="Times New Roman" panose="02020603050405020304" charset="0"/>
                <a:cs typeface="Times New Roman" panose="02020603050405020304" charset="0"/>
                <a:sym typeface="+mn-ea"/>
              </a:rPr>
              <a:t>void </a:t>
            </a:r>
            <a:r>
              <a:rPr lang="en-US" dirty="0" err="1">
                <a:effectLst/>
                <a:latin typeface="Times New Roman" panose="02020603050405020304" charset="0"/>
                <a:cs typeface="Times New Roman" panose="02020603050405020304" charset="0"/>
                <a:sym typeface="+mn-ea"/>
              </a:rPr>
              <a:t>closehand</a:t>
            </a:r>
            <a:r>
              <a:rPr lang="en-US" dirty="0">
                <a:effectLst/>
                <a:latin typeface="Times New Roman" panose="02020603050405020304" charset="0"/>
                <a:cs typeface="Times New Roman" panose="02020603050405020304" charset="0"/>
                <a:sym typeface="+mn-ea"/>
              </a:rPr>
              <a:t>(){for(finger = 1; finger &lt; 6 ; finger++){</a:t>
            </a:r>
            <a:r>
              <a:rPr lang="en-US" dirty="0" err="1">
                <a:effectLst/>
                <a:latin typeface="Times New Roman" panose="02020603050405020304" charset="0"/>
                <a:cs typeface="Times New Roman" panose="02020603050405020304" charset="0"/>
                <a:sym typeface="+mn-ea"/>
              </a:rPr>
              <a:t>closeFinger</a:t>
            </a:r>
            <a:r>
              <a:rPr lang="en-US" dirty="0">
                <a:effectLst/>
                <a:latin typeface="Times New Roman" panose="02020603050405020304" charset="0"/>
                <a:cs typeface="Times New Roman" panose="02020603050405020304" charset="0"/>
                <a:sym typeface="+mn-ea"/>
              </a:rPr>
              <a:t>(finger);}}</a:t>
            </a:r>
            <a:endParaRPr lang="en-US" dirty="0">
              <a:effectLst/>
              <a:latin typeface="Times New Roman" panose="02020603050405020304" charset="0"/>
              <a:cs typeface="Times New Roman" panose="02020603050405020304" charset="0"/>
            </a:endParaRPr>
          </a:p>
          <a:p>
            <a:pPr algn="l" fontAlgn="base">
              <a:lnSpc>
                <a:spcPct val="110000"/>
              </a:lnSpc>
            </a:pPr>
            <a:br>
              <a:rPr lang="en-US" dirty="0">
                <a:effectLst/>
                <a:latin typeface="Times New Roman" panose="02020603050405020304" charset="0"/>
                <a:cs typeface="Times New Roman" panose="02020603050405020304" charset="0"/>
                <a:sym typeface="+mn-ea"/>
              </a:rPr>
            </a:br>
            <a:endParaRPr lang="en-US" dirty="0">
              <a:effectLst/>
              <a:latin typeface="Times New Roman" panose="02020603050405020304" charset="0"/>
              <a:cs typeface="Times New Roman" panose="02020603050405020304" charset="0"/>
            </a:endParaRPr>
          </a:p>
          <a:p>
            <a:pPr algn="l" rtl="0" fontAlgn="base">
              <a:lnSpc>
                <a:spcPct val="110000"/>
              </a:lnSpc>
            </a:pPr>
            <a:r>
              <a:rPr lang="en-US" dirty="0">
                <a:effectLst/>
                <a:latin typeface="Times New Roman" panose="02020603050405020304" charset="0"/>
                <a:cs typeface="Times New Roman" panose="02020603050405020304" charset="0"/>
                <a:sym typeface="+mn-ea"/>
              </a:rPr>
              <a:t>// You have to rewrite properly the functions to open and close the fingers </a:t>
            </a:r>
            <a:endParaRPr lang="en-US" dirty="0">
              <a:effectLst/>
              <a:latin typeface="Times New Roman" panose="02020603050405020304" charset="0"/>
              <a:cs typeface="Times New Roman" panose="02020603050405020304" charset="0"/>
            </a:endParaRPr>
          </a:p>
          <a:p>
            <a:pPr algn="l" rtl="0" fontAlgn="base">
              <a:lnSpc>
                <a:spcPct val="110000"/>
              </a:lnSpc>
            </a:pPr>
            <a:r>
              <a:rPr lang="en-US" dirty="0">
                <a:effectLst/>
                <a:latin typeface="Times New Roman" panose="02020603050405020304" charset="0"/>
                <a:cs typeface="Times New Roman" panose="02020603050405020304" charset="0"/>
                <a:sym typeface="+mn-ea"/>
              </a:rPr>
              <a:t>// according of your assembly</a:t>
            </a:r>
            <a:endParaRPr lang="en-US" dirty="0">
              <a:effectLst/>
              <a:latin typeface="Times New Roman" panose="02020603050405020304" charset="0"/>
              <a:cs typeface="Times New Roman" panose="02020603050405020304" charset="0"/>
            </a:endParaRPr>
          </a:p>
          <a:p>
            <a:pPr algn="l" rtl="0" fontAlgn="base">
              <a:lnSpc>
                <a:spcPct val="110000"/>
              </a:lnSpc>
            </a:pPr>
            <a:r>
              <a:rPr lang="en-US" dirty="0">
                <a:effectLst/>
                <a:latin typeface="Times New Roman" panose="02020603050405020304" charset="0"/>
                <a:cs typeface="Times New Roman" panose="02020603050405020304" charset="0"/>
                <a:sym typeface="+mn-ea"/>
              </a:rPr>
              <a:t>// In my case, middle and index fingers are opened when servo is at 170 degrees and the others when servo is at 0 degrees</a:t>
            </a:r>
            <a:endParaRPr lang="en-US" dirty="0">
              <a:effectLst/>
              <a:latin typeface="Times New Roman" panose="02020603050405020304" charset="0"/>
              <a:cs typeface="Times New Roman" panose="02020603050405020304" charset="0"/>
            </a:endParaRPr>
          </a:p>
          <a:p>
            <a:pPr algn="l" rtl="0" fontAlgn="base">
              <a:lnSpc>
                <a:spcPct val="110000"/>
              </a:lnSpc>
            </a:pPr>
            <a:r>
              <a:rPr lang="en-US" dirty="0">
                <a:effectLst/>
                <a:latin typeface="Times New Roman" panose="02020603050405020304" charset="0"/>
                <a:cs typeface="Times New Roman" panose="02020603050405020304" charset="0"/>
                <a:sym typeface="+mn-ea"/>
              </a:rPr>
              <a:t>// I have used </a:t>
            </a:r>
            <a:r>
              <a:rPr lang="en-US" dirty="0" err="1">
                <a:effectLst/>
                <a:latin typeface="Times New Roman" panose="02020603050405020304" charset="0"/>
                <a:cs typeface="Times New Roman" panose="02020603050405020304" charset="0"/>
                <a:sym typeface="+mn-ea"/>
              </a:rPr>
              <a:t>Towardpro</a:t>
            </a:r>
            <a:r>
              <a:rPr lang="en-US" dirty="0">
                <a:effectLst/>
                <a:latin typeface="Times New Roman" panose="02020603050405020304" charset="0"/>
                <a:cs typeface="Times New Roman" panose="02020603050405020304" charset="0"/>
                <a:sym typeface="+mn-ea"/>
              </a:rPr>
              <a:t> MG996R servos</a:t>
            </a:r>
            <a:endParaRPr lang="en-US" dirty="0">
              <a:effectLst/>
              <a:latin typeface="Times New Roman" panose="02020603050405020304" charset="0"/>
              <a:cs typeface="Times New Roman" panose="02020603050405020304" charset="0"/>
            </a:endParaRPr>
          </a:p>
          <a:p>
            <a:pPr algn="l" fontAlgn="base">
              <a:lnSpc>
                <a:spcPct val="110000"/>
              </a:lnSpc>
            </a:pPr>
            <a:br>
              <a:rPr lang="en-US" dirty="0">
                <a:effectLst/>
                <a:latin typeface="Times New Roman" panose="02020603050405020304" charset="0"/>
                <a:cs typeface="Times New Roman" panose="02020603050405020304" charset="0"/>
                <a:sym typeface="+mn-ea"/>
              </a:rPr>
            </a:br>
            <a:endParaRPr lang="en-US" dirty="0">
              <a:effectLst/>
              <a:latin typeface="Times New Roman" panose="02020603050405020304" charset="0"/>
              <a:cs typeface="Times New Roman" panose="02020603050405020304" charset="0"/>
            </a:endParaRPr>
          </a:p>
          <a:p>
            <a:pPr algn="l" rtl="0" fontAlgn="base">
              <a:lnSpc>
                <a:spcPct val="110000"/>
              </a:lnSpc>
            </a:pPr>
            <a:r>
              <a:rPr lang="en-US" dirty="0">
                <a:effectLst/>
                <a:latin typeface="Times New Roman" panose="02020603050405020304" charset="0"/>
                <a:cs typeface="Times New Roman" panose="02020603050405020304" charset="0"/>
                <a:sym typeface="+mn-ea"/>
              </a:rPr>
              <a:t>void </a:t>
            </a:r>
            <a:r>
              <a:rPr lang="en-US" dirty="0" err="1">
                <a:effectLst/>
                <a:latin typeface="Times New Roman" panose="02020603050405020304" charset="0"/>
                <a:cs typeface="Times New Roman" panose="02020603050405020304" charset="0"/>
                <a:sym typeface="+mn-ea"/>
              </a:rPr>
              <a:t>openFinger</a:t>
            </a:r>
            <a:r>
              <a:rPr lang="en-US" dirty="0">
                <a:effectLst/>
                <a:latin typeface="Times New Roman" panose="02020603050405020304" charset="0"/>
                <a:cs typeface="Times New Roman" panose="02020603050405020304" charset="0"/>
                <a:sym typeface="+mn-ea"/>
              </a:rPr>
              <a:t>(int finger){</a:t>
            </a:r>
            <a:endParaRPr lang="en-US" dirty="0">
              <a:effectLst/>
              <a:latin typeface="Times New Roman" panose="02020603050405020304" charset="0"/>
              <a:cs typeface="Times New Roman" panose="02020603050405020304" charset="0"/>
            </a:endParaRPr>
          </a:p>
          <a:p>
            <a:pPr algn="l" rtl="0" fontAlgn="base">
              <a:lnSpc>
                <a:spcPct val="110000"/>
              </a:lnSpc>
            </a:pPr>
            <a:r>
              <a:rPr lang="en-US" dirty="0">
                <a:effectLst/>
                <a:latin typeface="Times New Roman" panose="02020603050405020304" charset="0"/>
                <a:cs typeface="Times New Roman" panose="02020603050405020304" charset="0"/>
                <a:sym typeface="+mn-ea"/>
              </a:rPr>
              <a:t>  if(finger==LITTLE){</a:t>
            </a:r>
            <a:r>
              <a:rPr lang="en-US" dirty="0" err="1">
                <a:effectLst/>
                <a:latin typeface="Times New Roman" panose="02020603050405020304" charset="0"/>
                <a:cs typeface="Times New Roman" panose="02020603050405020304" charset="0"/>
                <a:sym typeface="+mn-ea"/>
              </a:rPr>
              <a:t>servoLittleFinger.write</a:t>
            </a:r>
            <a:r>
              <a:rPr lang="en-US" dirty="0">
                <a:effectLst/>
                <a:latin typeface="Times New Roman" panose="02020603050405020304" charset="0"/>
                <a:cs typeface="Times New Roman" panose="02020603050405020304" charset="0"/>
                <a:sym typeface="+mn-ea"/>
              </a:rPr>
              <a:t>(0);} // Little finger</a:t>
            </a:r>
            <a:endParaRPr lang="en-US" dirty="0">
              <a:effectLst/>
              <a:latin typeface="Times New Roman" panose="02020603050405020304" charset="0"/>
              <a:cs typeface="Times New Roman" panose="02020603050405020304" charset="0"/>
            </a:endParaRPr>
          </a:p>
          <a:p>
            <a:pPr algn="l" rtl="0" fontAlgn="base">
              <a:lnSpc>
                <a:spcPct val="110000"/>
              </a:lnSpc>
            </a:pPr>
            <a:r>
              <a:rPr lang="en-US" dirty="0">
                <a:effectLst/>
                <a:latin typeface="Times New Roman" panose="02020603050405020304" charset="0"/>
                <a:cs typeface="Times New Roman" panose="02020603050405020304" charset="0"/>
                <a:sym typeface="+mn-ea"/>
              </a:rPr>
              <a:t>  else if(finger==RING){</a:t>
            </a:r>
            <a:r>
              <a:rPr lang="en-US" dirty="0" err="1">
                <a:effectLst/>
                <a:latin typeface="Times New Roman" panose="02020603050405020304" charset="0"/>
                <a:cs typeface="Times New Roman" panose="02020603050405020304" charset="0"/>
                <a:sym typeface="+mn-ea"/>
              </a:rPr>
              <a:t>servoRingFinger.write</a:t>
            </a:r>
            <a:r>
              <a:rPr lang="en-US" dirty="0">
                <a:effectLst/>
                <a:latin typeface="Times New Roman" panose="02020603050405020304" charset="0"/>
                <a:cs typeface="Times New Roman" panose="02020603050405020304" charset="0"/>
                <a:sym typeface="+mn-ea"/>
              </a:rPr>
              <a:t>(170);}// Ring finger</a:t>
            </a:r>
            <a:endParaRPr lang="en-US" dirty="0">
              <a:effectLst/>
              <a:latin typeface="Times New Roman" panose="02020603050405020304" charset="0"/>
              <a:cs typeface="Times New Roman" panose="02020603050405020304" charset="0"/>
            </a:endParaRPr>
          </a:p>
          <a:p>
            <a:pPr algn="l" rtl="0" fontAlgn="base">
              <a:lnSpc>
                <a:spcPct val="110000"/>
              </a:lnSpc>
            </a:pPr>
            <a:r>
              <a:rPr lang="en-US" dirty="0">
                <a:effectLst/>
                <a:latin typeface="Times New Roman" panose="02020603050405020304" charset="0"/>
                <a:cs typeface="Times New Roman" panose="02020603050405020304" charset="0"/>
                <a:sym typeface="+mn-ea"/>
              </a:rPr>
              <a:t>  else if(finger==MIDDLE){</a:t>
            </a:r>
            <a:r>
              <a:rPr lang="en-US" dirty="0" err="1">
                <a:effectLst/>
                <a:latin typeface="Times New Roman" panose="02020603050405020304" charset="0"/>
                <a:cs typeface="Times New Roman" panose="02020603050405020304" charset="0"/>
                <a:sym typeface="+mn-ea"/>
              </a:rPr>
              <a:t>servoMiddleFinger.write</a:t>
            </a:r>
            <a:r>
              <a:rPr lang="en-US" dirty="0">
                <a:effectLst/>
                <a:latin typeface="Times New Roman" panose="02020603050405020304" charset="0"/>
                <a:cs typeface="Times New Roman" panose="02020603050405020304" charset="0"/>
                <a:sym typeface="+mn-ea"/>
              </a:rPr>
              <a:t>(170);}// Middle finger</a:t>
            </a:r>
            <a:endParaRPr lang="en-US" dirty="0">
              <a:effectLst/>
              <a:latin typeface="Times New Roman" panose="02020603050405020304" charset="0"/>
              <a:cs typeface="Times New Roman" panose="02020603050405020304" charset="0"/>
            </a:endParaRPr>
          </a:p>
          <a:p>
            <a:pPr algn="l" rtl="0" fontAlgn="base">
              <a:lnSpc>
                <a:spcPct val="110000"/>
              </a:lnSpc>
            </a:pPr>
            <a:r>
              <a:rPr lang="en-US" dirty="0">
                <a:effectLst/>
                <a:latin typeface="Times New Roman" panose="02020603050405020304" charset="0"/>
                <a:cs typeface="Times New Roman" panose="02020603050405020304" charset="0"/>
                <a:sym typeface="+mn-ea"/>
              </a:rPr>
              <a:t>  else if(finger==INDEX){</a:t>
            </a:r>
            <a:r>
              <a:rPr lang="en-US" dirty="0" err="1">
                <a:effectLst/>
                <a:latin typeface="Times New Roman" panose="02020603050405020304" charset="0"/>
                <a:cs typeface="Times New Roman" panose="02020603050405020304" charset="0"/>
                <a:sym typeface="+mn-ea"/>
              </a:rPr>
              <a:t>servoIndexFinger.write</a:t>
            </a:r>
            <a:r>
              <a:rPr lang="en-US" dirty="0">
                <a:effectLst/>
                <a:latin typeface="Times New Roman" panose="02020603050405020304" charset="0"/>
                <a:cs typeface="Times New Roman" panose="02020603050405020304" charset="0"/>
                <a:sym typeface="+mn-ea"/>
              </a:rPr>
              <a:t>(170);}// Index finger</a:t>
            </a:r>
            <a:endParaRPr lang="en-US" dirty="0">
              <a:effectLst/>
              <a:latin typeface="Times New Roman" panose="02020603050405020304" charset="0"/>
              <a:cs typeface="Times New Roman" panose="02020603050405020304" charset="0"/>
            </a:endParaRPr>
          </a:p>
          <a:p>
            <a:pPr algn="l" rtl="0" fontAlgn="base">
              <a:lnSpc>
                <a:spcPct val="110000"/>
              </a:lnSpc>
            </a:pPr>
            <a:r>
              <a:rPr lang="en-US" dirty="0">
                <a:effectLst/>
                <a:latin typeface="Times New Roman" panose="02020603050405020304" charset="0"/>
                <a:cs typeface="Times New Roman" panose="02020603050405020304" charset="0"/>
                <a:sym typeface="+mn-ea"/>
              </a:rPr>
              <a:t>  else if(finger==THUMB){</a:t>
            </a:r>
            <a:r>
              <a:rPr lang="en-US" dirty="0" err="1">
                <a:effectLst/>
                <a:latin typeface="Times New Roman" panose="02020603050405020304" charset="0"/>
                <a:cs typeface="Times New Roman" panose="02020603050405020304" charset="0"/>
                <a:sym typeface="+mn-ea"/>
              </a:rPr>
              <a:t>servoThumbFinger.write</a:t>
            </a:r>
            <a:r>
              <a:rPr lang="en-US" dirty="0">
                <a:effectLst/>
                <a:latin typeface="Times New Roman" panose="02020603050405020304" charset="0"/>
                <a:cs typeface="Times New Roman" panose="02020603050405020304" charset="0"/>
                <a:sym typeface="+mn-ea"/>
              </a:rPr>
              <a:t>(0);}//Thumb finger</a:t>
            </a:r>
            <a:endParaRPr lang="en-US" dirty="0">
              <a:effectLst/>
              <a:latin typeface="Times New Roman" panose="02020603050405020304" charset="0"/>
              <a:cs typeface="Times New Roman" panose="02020603050405020304" charset="0"/>
            </a:endParaRPr>
          </a:p>
          <a:p>
            <a:pPr algn="l" fontAlgn="base">
              <a:lnSpc>
                <a:spcPct val="110000"/>
              </a:lnSpc>
            </a:pPr>
            <a:r>
              <a:rPr lang="en-US" dirty="0">
                <a:effectLst/>
                <a:latin typeface="Times New Roman" panose="02020603050405020304" charset="0"/>
                <a:cs typeface="Times New Roman" panose="02020603050405020304" charset="0"/>
                <a:sym typeface="+mn-ea"/>
              </a:rPr>
              <a:t>}</a:t>
            </a:r>
            <a:br>
              <a:rPr lang="en-US" dirty="0">
                <a:effectLst/>
                <a:latin typeface="Times New Roman" panose="02020603050405020304" charset="0"/>
                <a:cs typeface="Times New Roman" panose="02020603050405020304" charset="0"/>
                <a:sym typeface="+mn-ea"/>
              </a:rPr>
            </a:br>
            <a:endParaRPr lang="en-US" dirty="0">
              <a:latin typeface="Times New Roman" panose="02020603050405020304" charset="0"/>
              <a:cs typeface="Times New Roman" panose="02020603050405020304"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465455" y="311785"/>
            <a:ext cx="10944225" cy="7016115"/>
          </a:xfrm>
          <a:prstGeom prst="rect">
            <a:avLst/>
          </a:prstGeom>
          <a:noFill/>
        </p:spPr>
        <p:txBody>
          <a:bodyPr wrap="square" rtlCol="0" anchor="t">
            <a:spAutoFit/>
          </a:bodyPr>
          <a:lstStyle/>
          <a:p>
            <a:pPr algn="l" rtl="0" fontAlgn="base"/>
            <a:r>
              <a:rPr lang="en-US" dirty="0">
                <a:effectLst/>
                <a:latin typeface="Times New Roman" panose="02020603050405020304" charset="0"/>
                <a:cs typeface="Times New Roman" panose="02020603050405020304" charset="0"/>
                <a:sym typeface="+mn-ea"/>
              </a:rPr>
              <a:t>void </a:t>
            </a:r>
            <a:r>
              <a:rPr lang="en-US" dirty="0" err="1">
                <a:effectLst/>
                <a:latin typeface="Times New Roman" panose="02020603050405020304" charset="0"/>
                <a:cs typeface="Times New Roman" panose="02020603050405020304" charset="0"/>
                <a:sym typeface="+mn-ea"/>
              </a:rPr>
              <a:t>closeFinger</a:t>
            </a:r>
            <a:r>
              <a:rPr lang="en-US" dirty="0">
                <a:effectLst/>
                <a:latin typeface="Times New Roman" panose="02020603050405020304" charset="0"/>
                <a:cs typeface="Times New Roman" panose="02020603050405020304" charset="0"/>
                <a:sym typeface="+mn-ea"/>
              </a:rPr>
              <a:t>(int finger){</a:t>
            </a:r>
            <a:endParaRPr lang="en-US" dirty="0">
              <a:effectLst/>
              <a:latin typeface="Times New Roman" panose="02020603050405020304" charset="0"/>
              <a:cs typeface="Times New Roman" panose="02020603050405020304" charset="0"/>
            </a:endParaRPr>
          </a:p>
          <a:p>
            <a:pPr algn="l" rtl="0" fontAlgn="base"/>
            <a:r>
              <a:rPr lang="en-US" dirty="0">
                <a:effectLst/>
                <a:latin typeface="Times New Roman" panose="02020603050405020304" charset="0"/>
                <a:cs typeface="Times New Roman" panose="02020603050405020304" charset="0"/>
                <a:sym typeface="+mn-ea"/>
              </a:rPr>
              <a:t>  if(finger==LITTLE){</a:t>
            </a:r>
            <a:r>
              <a:rPr lang="en-US" dirty="0" err="1">
                <a:effectLst/>
                <a:latin typeface="Times New Roman" panose="02020603050405020304" charset="0"/>
                <a:cs typeface="Times New Roman" panose="02020603050405020304" charset="0"/>
                <a:sym typeface="+mn-ea"/>
              </a:rPr>
              <a:t>servoLittleFinger.write</a:t>
            </a:r>
            <a:r>
              <a:rPr lang="en-US" dirty="0">
                <a:effectLst/>
                <a:latin typeface="Times New Roman" panose="02020603050405020304" charset="0"/>
                <a:cs typeface="Times New Roman" panose="02020603050405020304" charset="0"/>
                <a:sym typeface="+mn-ea"/>
              </a:rPr>
              <a:t>(170);} // Little finger </a:t>
            </a:r>
            <a:endParaRPr lang="en-US" dirty="0">
              <a:effectLst/>
              <a:latin typeface="Times New Roman" panose="02020603050405020304" charset="0"/>
              <a:cs typeface="Times New Roman" panose="02020603050405020304" charset="0"/>
            </a:endParaRPr>
          </a:p>
          <a:p>
            <a:pPr algn="l" rtl="0" fontAlgn="base"/>
            <a:r>
              <a:rPr lang="en-US" dirty="0">
                <a:effectLst/>
                <a:latin typeface="Times New Roman" panose="02020603050405020304" charset="0"/>
                <a:cs typeface="Times New Roman" panose="02020603050405020304" charset="0"/>
                <a:sym typeface="+mn-ea"/>
              </a:rPr>
              <a:t>  else if(finger==RING){</a:t>
            </a:r>
            <a:r>
              <a:rPr lang="en-US" dirty="0" err="1">
                <a:effectLst/>
                <a:latin typeface="Times New Roman" panose="02020603050405020304" charset="0"/>
                <a:cs typeface="Times New Roman" panose="02020603050405020304" charset="0"/>
                <a:sym typeface="+mn-ea"/>
              </a:rPr>
              <a:t>servoRingFinger.write</a:t>
            </a:r>
            <a:r>
              <a:rPr lang="en-US" dirty="0">
                <a:effectLst/>
                <a:latin typeface="Times New Roman" panose="02020603050405020304" charset="0"/>
                <a:cs typeface="Times New Roman" panose="02020603050405020304" charset="0"/>
                <a:sym typeface="+mn-ea"/>
              </a:rPr>
              <a:t>(0);}// Ring finger</a:t>
            </a:r>
            <a:endParaRPr lang="en-US" dirty="0">
              <a:effectLst/>
              <a:latin typeface="Times New Roman" panose="02020603050405020304" charset="0"/>
              <a:cs typeface="Times New Roman" panose="02020603050405020304" charset="0"/>
            </a:endParaRPr>
          </a:p>
          <a:p>
            <a:pPr algn="l" rtl="0" fontAlgn="base"/>
            <a:r>
              <a:rPr lang="en-US" dirty="0">
                <a:effectLst/>
                <a:latin typeface="Times New Roman" panose="02020603050405020304" charset="0"/>
                <a:cs typeface="Times New Roman" panose="02020603050405020304" charset="0"/>
                <a:sym typeface="+mn-ea"/>
              </a:rPr>
              <a:t>  else if(finger==MIDDLE){</a:t>
            </a:r>
            <a:r>
              <a:rPr lang="en-US" dirty="0" err="1">
                <a:effectLst/>
                <a:latin typeface="Times New Roman" panose="02020603050405020304" charset="0"/>
                <a:cs typeface="Times New Roman" panose="02020603050405020304" charset="0"/>
                <a:sym typeface="+mn-ea"/>
              </a:rPr>
              <a:t>servoMiddleFinger.write</a:t>
            </a:r>
            <a:r>
              <a:rPr lang="en-US" dirty="0">
                <a:effectLst/>
                <a:latin typeface="Times New Roman" panose="02020603050405020304" charset="0"/>
                <a:cs typeface="Times New Roman" panose="02020603050405020304" charset="0"/>
                <a:sym typeface="+mn-ea"/>
              </a:rPr>
              <a:t>(0);}// Middle finger</a:t>
            </a:r>
            <a:endParaRPr lang="en-US" dirty="0">
              <a:effectLst/>
              <a:latin typeface="Times New Roman" panose="02020603050405020304" charset="0"/>
              <a:cs typeface="Times New Roman" panose="02020603050405020304" charset="0"/>
            </a:endParaRPr>
          </a:p>
          <a:p>
            <a:pPr algn="l" rtl="0" fontAlgn="base"/>
            <a:r>
              <a:rPr lang="en-US" dirty="0">
                <a:effectLst/>
                <a:latin typeface="Times New Roman" panose="02020603050405020304" charset="0"/>
                <a:cs typeface="Times New Roman" panose="02020603050405020304" charset="0"/>
                <a:sym typeface="+mn-ea"/>
              </a:rPr>
              <a:t>  else if(finger==INDEX){</a:t>
            </a:r>
            <a:r>
              <a:rPr lang="en-US" dirty="0" err="1">
                <a:effectLst/>
                <a:latin typeface="Times New Roman" panose="02020603050405020304" charset="0"/>
                <a:cs typeface="Times New Roman" panose="02020603050405020304" charset="0"/>
                <a:sym typeface="+mn-ea"/>
              </a:rPr>
              <a:t>servoIndexFinger.write</a:t>
            </a:r>
            <a:r>
              <a:rPr lang="en-US" dirty="0">
                <a:effectLst/>
                <a:latin typeface="Times New Roman" panose="02020603050405020304" charset="0"/>
                <a:cs typeface="Times New Roman" panose="02020603050405020304" charset="0"/>
                <a:sym typeface="+mn-ea"/>
              </a:rPr>
              <a:t>(0);}// Index finger</a:t>
            </a:r>
            <a:endParaRPr lang="en-US" dirty="0">
              <a:effectLst/>
              <a:latin typeface="Times New Roman" panose="02020603050405020304" charset="0"/>
              <a:cs typeface="Times New Roman" panose="02020603050405020304" charset="0"/>
            </a:endParaRPr>
          </a:p>
          <a:p>
            <a:pPr algn="l" rtl="0" fontAlgn="base"/>
            <a:r>
              <a:rPr lang="en-US" dirty="0">
                <a:effectLst/>
                <a:latin typeface="Times New Roman" panose="02020603050405020304" charset="0"/>
                <a:cs typeface="Times New Roman" panose="02020603050405020304" charset="0"/>
                <a:sym typeface="+mn-ea"/>
              </a:rPr>
              <a:t>  else if(finger==THUMB){</a:t>
            </a:r>
            <a:r>
              <a:rPr lang="en-US" dirty="0" err="1">
                <a:effectLst/>
                <a:latin typeface="Times New Roman" panose="02020603050405020304" charset="0"/>
                <a:cs typeface="Times New Roman" panose="02020603050405020304" charset="0"/>
                <a:sym typeface="+mn-ea"/>
              </a:rPr>
              <a:t>servoThumbFinger.write</a:t>
            </a:r>
            <a:r>
              <a:rPr lang="en-US" dirty="0">
                <a:effectLst/>
                <a:latin typeface="Times New Roman" panose="02020603050405020304" charset="0"/>
                <a:cs typeface="Times New Roman" panose="02020603050405020304" charset="0"/>
                <a:sym typeface="+mn-ea"/>
              </a:rPr>
              <a:t>(170);}//Thumb finger</a:t>
            </a:r>
            <a:endParaRPr lang="en-US" dirty="0">
              <a:effectLst/>
              <a:latin typeface="Times New Roman" panose="02020603050405020304" charset="0"/>
              <a:cs typeface="Times New Roman" panose="02020603050405020304" charset="0"/>
            </a:endParaRPr>
          </a:p>
          <a:p>
            <a:pPr algn="l" fontAlgn="base"/>
            <a:r>
              <a:rPr lang="en-US" dirty="0">
                <a:effectLst/>
                <a:latin typeface="Times New Roman" panose="02020603050405020304" charset="0"/>
                <a:cs typeface="Times New Roman" panose="02020603050405020304" charset="0"/>
                <a:sym typeface="+mn-ea"/>
              </a:rPr>
              <a:t>}</a:t>
            </a:r>
            <a:endParaRPr lang="en-US" dirty="0">
              <a:effectLst/>
              <a:latin typeface="Times New Roman" panose="02020603050405020304" charset="0"/>
              <a:cs typeface="Times New Roman" panose="02020603050405020304" charset="0"/>
            </a:endParaRPr>
          </a:p>
          <a:p>
            <a:pPr algn="l" fontAlgn="base"/>
            <a:br>
              <a:rPr lang="en-US" dirty="0">
                <a:effectLst/>
                <a:latin typeface="Times New Roman" panose="02020603050405020304" charset="0"/>
                <a:cs typeface="Times New Roman" panose="02020603050405020304" charset="0"/>
                <a:sym typeface="+mn-ea"/>
              </a:rPr>
            </a:br>
            <a:endParaRPr lang="en-US" dirty="0">
              <a:effectLst/>
              <a:latin typeface="Times New Roman" panose="02020603050405020304" charset="0"/>
              <a:cs typeface="Times New Roman" panose="02020603050405020304" charset="0"/>
            </a:endParaRPr>
          </a:p>
          <a:p>
            <a:pPr algn="l" rtl="0" fontAlgn="base"/>
            <a:r>
              <a:rPr lang="en-US" dirty="0">
                <a:effectLst/>
                <a:latin typeface="Times New Roman" panose="02020603050405020304" charset="0"/>
                <a:cs typeface="Times New Roman" panose="02020603050405020304" charset="0"/>
                <a:sym typeface="+mn-ea"/>
              </a:rPr>
              <a:t>void setup(){</a:t>
            </a:r>
            <a:endParaRPr lang="en-US" dirty="0">
              <a:effectLst/>
              <a:latin typeface="Times New Roman" panose="02020603050405020304" charset="0"/>
              <a:cs typeface="Times New Roman" panose="02020603050405020304" charset="0"/>
            </a:endParaRPr>
          </a:p>
          <a:p>
            <a:pPr algn="l" fontAlgn="base"/>
            <a:r>
              <a:rPr lang="en-US" dirty="0">
                <a:effectLst/>
                <a:latin typeface="Times New Roman" panose="02020603050405020304" charset="0"/>
                <a:cs typeface="Times New Roman" panose="02020603050405020304" charset="0"/>
                <a:sym typeface="+mn-ea"/>
              </a:rPr>
              <a:t>  </a:t>
            </a:r>
            <a:endParaRPr lang="en-US" dirty="0">
              <a:effectLst/>
              <a:latin typeface="Times New Roman" panose="02020603050405020304" charset="0"/>
              <a:cs typeface="Times New Roman" panose="02020603050405020304" charset="0"/>
            </a:endParaRPr>
          </a:p>
          <a:p>
            <a:pPr algn="l" rtl="0" fontAlgn="base"/>
            <a:r>
              <a:rPr lang="en-US" dirty="0">
                <a:effectLst/>
                <a:latin typeface="Times New Roman" panose="02020603050405020304" charset="0"/>
                <a:cs typeface="Times New Roman" panose="02020603050405020304" charset="0"/>
                <a:sym typeface="+mn-ea"/>
              </a:rPr>
              <a:t>  </a:t>
            </a:r>
            <a:r>
              <a:rPr lang="en-US" dirty="0" err="1">
                <a:effectLst/>
                <a:latin typeface="Times New Roman" panose="02020603050405020304" charset="0"/>
                <a:cs typeface="Times New Roman" panose="02020603050405020304" charset="0"/>
                <a:sym typeface="+mn-ea"/>
              </a:rPr>
              <a:t>Serial.begin</a:t>
            </a:r>
            <a:r>
              <a:rPr lang="en-US" dirty="0">
                <a:effectLst/>
                <a:latin typeface="Times New Roman" panose="02020603050405020304" charset="0"/>
                <a:cs typeface="Times New Roman" panose="02020603050405020304" charset="0"/>
                <a:sym typeface="+mn-ea"/>
              </a:rPr>
              <a:t>(115200); //BAUDRATE set to 115200, remember it to set monitor serial properly (used this </a:t>
            </a:r>
            <a:r>
              <a:rPr lang="en-US" dirty="0" err="1">
                <a:effectLst/>
                <a:latin typeface="Times New Roman" panose="02020603050405020304" charset="0"/>
                <a:cs typeface="Times New Roman" panose="02020603050405020304" charset="0"/>
                <a:sym typeface="+mn-ea"/>
              </a:rPr>
              <a:t>BaudRate</a:t>
            </a:r>
            <a:r>
              <a:rPr lang="en-US" dirty="0">
                <a:effectLst/>
                <a:latin typeface="Times New Roman" panose="02020603050405020304" charset="0"/>
                <a:cs typeface="Times New Roman" panose="02020603050405020304" charset="0"/>
                <a:sym typeface="+mn-ea"/>
              </a:rPr>
              <a:t> and "NL&amp;CR" option to visualize the values correctly)</a:t>
            </a:r>
            <a:endParaRPr lang="en-US" dirty="0">
              <a:effectLst/>
              <a:latin typeface="Times New Roman" panose="02020603050405020304" charset="0"/>
              <a:cs typeface="Times New Roman" panose="02020603050405020304" charset="0"/>
            </a:endParaRPr>
          </a:p>
          <a:p>
            <a:pPr algn="l" fontAlgn="base"/>
            <a:br>
              <a:rPr lang="en-US" dirty="0">
                <a:effectLst/>
                <a:latin typeface="Times New Roman" panose="02020603050405020304" charset="0"/>
                <a:cs typeface="Times New Roman" panose="02020603050405020304" charset="0"/>
                <a:sym typeface="+mn-ea"/>
              </a:rPr>
            </a:br>
            <a:endParaRPr lang="en-US" dirty="0">
              <a:effectLst/>
              <a:latin typeface="Times New Roman" panose="02020603050405020304" charset="0"/>
              <a:cs typeface="Times New Roman" panose="02020603050405020304" charset="0"/>
            </a:endParaRPr>
          </a:p>
          <a:p>
            <a:pPr algn="l" rtl="0" fontAlgn="base"/>
            <a:r>
              <a:rPr lang="en-US" dirty="0">
                <a:effectLst/>
                <a:latin typeface="Times New Roman" panose="02020603050405020304" charset="0"/>
                <a:cs typeface="Times New Roman" panose="02020603050405020304" charset="0"/>
                <a:sym typeface="+mn-ea"/>
              </a:rPr>
              <a:t>  </a:t>
            </a:r>
            <a:r>
              <a:rPr lang="en-US" dirty="0" err="1">
                <a:effectLst/>
                <a:latin typeface="Times New Roman" panose="02020603050405020304" charset="0"/>
                <a:cs typeface="Times New Roman" panose="02020603050405020304" charset="0"/>
                <a:sym typeface="+mn-ea"/>
              </a:rPr>
              <a:t>servoLittleFinger.attach</a:t>
            </a:r>
            <a:r>
              <a:rPr lang="en-US" dirty="0">
                <a:effectLst/>
                <a:latin typeface="Times New Roman" panose="02020603050405020304" charset="0"/>
                <a:cs typeface="Times New Roman" panose="02020603050405020304" charset="0"/>
                <a:sym typeface="+mn-ea"/>
              </a:rPr>
              <a:t>(LITTLEPIN); // Set Little finger servo to digital pin 3</a:t>
            </a:r>
            <a:endParaRPr lang="en-US" dirty="0">
              <a:effectLst/>
              <a:latin typeface="Times New Roman" panose="02020603050405020304" charset="0"/>
              <a:cs typeface="Times New Roman" panose="02020603050405020304" charset="0"/>
            </a:endParaRPr>
          </a:p>
          <a:p>
            <a:pPr algn="l" rtl="0" fontAlgn="base"/>
            <a:r>
              <a:rPr lang="en-US" dirty="0">
                <a:effectLst/>
                <a:latin typeface="Times New Roman" panose="02020603050405020304" charset="0"/>
                <a:cs typeface="Times New Roman" panose="02020603050405020304" charset="0"/>
                <a:sym typeface="+mn-ea"/>
              </a:rPr>
              <a:t>  </a:t>
            </a:r>
            <a:r>
              <a:rPr lang="en-US" dirty="0" err="1">
                <a:effectLst/>
                <a:latin typeface="Times New Roman" panose="02020603050405020304" charset="0"/>
                <a:cs typeface="Times New Roman" panose="02020603050405020304" charset="0"/>
                <a:sym typeface="+mn-ea"/>
              </a:rPr>
              <a:t>servoRingFinger.attach</a:t>
            </a:r>
            <a:r>
              <a:rPr lang="en-US" dirty="0">
                <a:effectLst/>
                <a:latin typeface="Times New Roman" panose="02020603050405020304" charset="0"/>
                <a:cs typeface="Times New Roman" panose="02020603050405020304" charset="0"/>
                <a:sym typeface="+mn-ea"/>
              </a:rPr>
              <a:t>(RINGPIN); // Set Ring finger servo to digital pin 5</a:t>
            </a:r>
            <a:endParaRPr lang="en-US" dirty="0">
              <a:effectLst/>
              <a:latin typeface="Times New Roman" panose="02020603050405020304" charset="0"/>
              <a:cs typeface="Times New Roman" panose="02020603050405020304" charset="0"/>
            </a:endParaRPr>
          </a:p>
          <a:p>
            <a:pPr algn="l" rtl="0" fontAlgn="base"/>
            <a:r>
              <a:rPr lang="en-US" dirty="0">
                <a:effectLst/>
                <a:latin typeface="Times New Roman" panose="02020603050405020304" charset="0"/>
                <a:cs typeface="Times New Roman" panose="02020603050405020304" charset="0"/>
                <a:sym typeface="+mn-ea"/>
              </a:rPr>
              <a:t>  </a:t>
            </a:r>
            <a:r>
              <a:rPr lang="en-US" dirty="0" err="1">
                <a:effectLst/>
                <a:latin typeface="Times New Roman" panose="02020603050405020304" charset="0"/>
                <a:cs typeface="Times New Roman" panose="02020603050405020304" charset="0"/>
                <a:sym typeface="+mn-ea"/>
              </a:rPr>
              <a:t>servoMiddleFinger.attach</a:t>
            </a:r>
            <a:r>
              <a:rPr lang="en-US" dirty="0">
                <a:effectLst/>
                <a:latin typeface="Times New Roman" panose="02020603050405020304" charset="0"/>
                <a:cs typeface="Times New Roman" panose="02020603050405020304" charset="0"/>
                <a:sym typeface="+mn-ea"/>
              </a:rPr>
              <a:t>(MIDDLEPIN); // Set Middle finger servo to digital pin 6</a:t>
            </a:r>
            <a:endParaRPr lang="en-US" dirty="0">
              <a:effectLst/>
              <a:latin typeface="Times New Roman" panose="02020603050405020304" charset="0"/>
              <a:cs typeface="Times New Roman" panose="02020603050405020304" charset="0"/>
            </a:endParaRPr>
          </a:p>
          <a:p>
            <a:pPr algn="l" rtl="0" fontAlgn="base"/>
            <a:r>
              <a:rPr lang="en-US" dirty="0">
                <a:effectLst/>
                <a:latin typeface="Times New Roman" panose="02020603050405020304" charset="0"/>
                <a:cs typeface="Times New Roman" panose="02020603050405020304" charset="0"/>
                <a:sym typeface="+mn-ea"/>
              </a:rPr>
              <a:t>  </a:t>
            </a:r>
            <a:r>
              <a:rPr lang="en-US" dirty="0" err="1">
                <a:effectLst/>
                <a:latin typeface="Times New Roman" panose="02020603050405020304" charset="0"/>
                <a:cs typeface="Times New Roman" panose="02020603050405020304" charset="0"/>
                <a:sym typeface="+mn-ea"/>
              </a:rPr>
              <a:t>servoIndexFinger.attach</a:t>
            </a:r>
            <a:r>
              <a:rPr lang="en-US" dirty="0">
                <a:effectLst/>
                <a:latin typeface="Times New Roman" panose="02020603050405020304" charset="0"/>
                <a:cs typeface="Times New Roman" panose="02020603050405020304" charset="0"/>
                <a:sym typeface="+mn-ea"/>
              </a:rPr>
              <a:t>(INDEXPIN); // Set Index finger servo to digital pin 9</a:t>
            </a:r>
            <a:endParaRPr lang="en-US" dirty="0">
              <a:effectLst/>
              <a:latin typeface="Times New Roman" panose="02020603050405020304" charset="0"/>
              <a:cs typeface="Times New Roman" panose="02020603050405020304" charset="0"/>
            </a:endParaRPr>
          </a:p>
          <a:p>
            <a:pPr algn="l" rtl="0" fontAlgn="base"/>
            <a:r>
              <a:rPr lang="en-US" dirty="0">
                <a:effectLst/>
                <a:latin typeface="Times New Roman" panose="02020603050405020304" charset="0"/>
                <a:cs typeface="Times New Roman" panose="02020603050405020304" charset="0"/>
                <a:sym typeface="+mn-ea"/>
              </a:rPr>
              <a:t>  </a:t>
            </a:r>
            <a:r>
              <a:rPr lang="en-US" dirty="0" err="1">
                <a:effectLst/>
                <a:latin typeface="Times New Roman" panose="02020603050405020304" charset="0"/>
                <a:cs typeface="Times New Roman" panose="02020603050405020304" charset="0"/>
                <a:sym typeface="+mn-ea"/>
              </a:rPr>
              <a:t>servoThumbFinger.attach</a:t>
            </a:r>
            <a:r>
              <a:rPr lang="en-US" dirty="0">
                <a:effectLst/>
                <a:latin typeface="Times New Roman" panose="02020603050405020304" charset="0"/>
                <a:cs typeface="Times New Roman" panose="02020603050405020304" charset="0"/>
                <a:sym typeface="+mn-ea"/>
              </a:rPr>
              <a:t>(THUMBPIN); // Set Thumb finger servo to digital pin 10</a:t>
            </a:r>
            <a:endParaRPr lang="en-US" dirty="0">
              <a:effectLst/>
              <a:latin typeface="Times New Roman" panose="02020603050405020304" charset="0"/>
              <a:cs typeface="Times New Roman" panose="02020603050405020304" charset="0"/>
            </a:endParaRPr>
          </a:p>
          <a:p>
            <a:pPr algn="l" fontAlgn="base"/>
            <a:br>
              <a:rPr lang="en-US" dirty="0">
                <a:effectLst/>
                <a:latin typeface="Times New Roman" panose="02020603050405020304" charset="0"/>
                <a:cs typeface="Times New Roman" panose="02020603050405020304" charset="0"/>
                <a:sym typeface="+mn-ea"/>
              </a:rPr>
            </a:br>
            <a:endParaRPr lang="en-US" dirty="0">
              <a:effectLst/>
              <a:latin typeface="Times New Roman" panose="02020603050405020304" charset="0"/>
              <a:cs typeface="Times New Roman" panose="02020603050405020304" charset="0"/>
            </a:endParaRPr>
          </a:p>
          <a:p>
            <a:pPr algn="l" rtl="0" fontAlgn="base"/>
            <a:r>
              <a:rPr lang="en-US" dirty="0">
                <a:effectLst/>
                <a:latin typeface="Times New Roman" panose="02020603050405020304" charset="0"/>
                <a:cs typeface="Times New Roman" panose="02020603050405020304" charset="0"/>
                <a:sym typeface="+mn-ea"/>
              </a:rPr>
              <a:t>}//end setup</a:t>
            </a:r>
            <a:endParaRPr lang="en-US" dirty="0">
              <a:effectLst/>
              <a:latin typeface="Times New Roman" panose="02020603050405020304" charset="0"/>
              <a:cs typeface="Times New Roman" panose="02020603050405020304" charset="0"/>
            </a:endParaRPr>
          </a:p>
          <a:p>
            <a:br>
              <a:rPr lang="en-US" dirty="0">
                <a:effectLst/>
                <a:latin typeface="Times New Roman" panose="02020603050405020304" charset="0"/>
                <a:cs typeface="Times New Roman" panose="02020603050405020304" charset="0"/>
                <a:sym typeface="+mn-ea"/>
              </a:rPr>
            </a:br>
            <a:endParaRPr lang="en-US" dirty="0">
              <a:latin typeface="Times New Roman" panose="02020603050405020304" charset="0"/>
              <a:cs typeface="Times New Roman" panose="02020603050405020304"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1453751" y="762413"/>
            <a:ext cx="9103360" cy="5739130"/>
          </a:xfrm>
          <a:prstGeom prst="rect">
            <a:avLst/>
          </a:prstGeom>
          <a:noFill/>
        </p:spPr>
        <p:txBody>
          <a:bodyPr wrap="square" rtlCol="0" anchor="t">
            <a:spAutoFit/>
          </a:bodyPr>
          <a:lstStyle/>
          <a:p>
            <a:pPr algn="l" rtl="0" fontAlgn="base">
              <a:lnSpc>
                <a:spcPct val="170000"/>
              </a:lnSpc>
            </a:pPr>
            <a:r>
              <a:rPr lang="en-US" dirty="0">
                <a:effectLst/>
                <a:latin typeface="Times New Roman" panose="02020603050405020304" charset="0"/>
                <a:cs typeface="Times New Roman" panose="02020603050405020304" charset="0"/>
                <a:sym typeface="+mn-ea"/>
              </a:rPr>
              <a:t>void loop() {// Nothing to do here, all is done in the interrupt function</a:t>
            </a:r>
            <a:endParaRPr lang="en-US" b="0" i="0" dirty="0">
              <a:effectLst/>
              <a:latin typeface="Times New Roman" panose="02020603050405020304" charset="0"/>
              <a:cs typeface="Times New Roman" panose="02020603050405020304" charset="0"/>
            </a:endParaRPr>
          </a:p>
          <a:p>
            <a:pPr algn="l" fontAlgn="base">
              <a:lnSpc>
                <a:spcPct val="170000"/>
              </a:lnSpc>
            </a:pPr>
            <a:br>
              <a:rPr lang="en-US" dirty="0">
                <a:effectLst/>
                <a:latin typeface="Times New Roman" panose="02020603050405020304" charset="0"/>
                <a:cs typeface="Times New Roman" panose="02020603050405020304" charset="0"/>
                <a:sym typeface="+mn-ea"/>
              </a:rPr>
            </a:br>
            <a:endParaRPr lang="en-US" b="0" i="0" dirty="0">
              <a:effectLst/>
              <a:latin typeface="Times New Roman" panose="02020603050405020304" charset="0"/>
              <a:cs typeface="Times New Roman" panose="02020603050405020304" charset="0"/>
            </a:endParaRPr>
          </a:p>
          <a:p>
            <a:pPr algn="l" rtl="0" fontAlgn="base">
              <a:lnSpc>
                <a:spcPct val="170000"/>
              </a:lnSpc>
            </a:pPr>
            <a:r>
              <a:rPr lang="en-US" dirty="0">
                <a:effectLst/>
                <a:latin typeface="Times New Roman" panose="02020603050405020304" charset="0"/>
                <a:cs typeface="Times New Roman" panose="02020603050405020304" charset="0"/>
                <a:sym typeface="+mn-ea"/>
              </a:rPr>
              <a:t>  int value = </a:t>
            </a:r>
            <a:r>
              <a:rPr lang="en-US" dirty="0" err="1">
                <a:effectLst/>
                <a:latin typeface="Times New Roman" panose="02020603050405020304" charset="0"/>
                <a:cs typeface="Times New Roman" panose="02020603050405020304" charset="0"/>
                <a:sym typeface="+mn-ea"/>
              </a:rPr>
              <a:t>analogRead</a:t>
            </a:r>
            <a:r>
              <a:rPr lang="en-US" dirty="0">
                <a:effectLst/>
                <a:latin typeface="Times New Roman" panose="02020603050405020304" charset="0"/>
                <a:cs typeface="Times New Roman" panose="02020603050405020304" charset="0"/>
                <a:sym typeface="+mn-ea"/>
              </a:rPr>
              <a:t>(EMGPIN); //Sampling analog signal</a:t>
            </a:r>
            <a:endParaRPr lang="en-US" b="0" i="0" dirty="0">
              <a:effectLst/>
              <a:latin typeface="Times New Roman" panose="02020603050405020304" charset="0"/>
              <a:cs typeface="Times New Roman" panose="02020603050405020304" charset="0"/>
            </a:endParaRPr>
          </a:p>
          <a:p>
            <a:pPr algn="l" rtl="0" fontAlgn="base">
              <a:lnSpc>
                <a:spcPct val="170000"/>
              </a:lnSpc>
            </a:pPr>
            <a:r>
              <a:rPr lang="en-US" dirty="0">
                <a:effectLst/>
                <a:latin typeface="Times New Roman" panose="02020603050405020304" charset="0"/>
                <a:cs typeface="Times New Roman" panose="02020603050405020304" charset="0"/>
                <a:sym typeface="+mn-ea"/>
              </a:rPr>
              <a:t>  if(value&gt;THRESHOLD) //If the value of the sample is greater than THRESHOLD means that the hand has been closed</a:t>
            </a:r>
            <a:endParaRPr lang="en-US" b="0" i="0" dirty="0">
              <a:effectLst/>
              <a:latin typeface="Times New Roman" panose="02020603050405020304" charset="0"/>
              <a:cs typeface="Times New Roman" panose="02020603050405020304" charset="0"/>
            </a:endParaRPr>
          </a:p>
          <a:p>
            <a:pPr algn="l" rtl="0" fontAlgn="base">
              <a:lnSpc>
                <a:spcPct val="170000"/>
              </a:lnSpc>
            </a:pPr>
            <a:r>
              <a:rPr lang="en-US" dirty="0">
                <a:effectLst/>
                <a:latin typeface="Times New Roman" panose="02020603050405020304" charset="0"/>
                <a:cs typeface="Times New Roman" panose="02020603050405020304" charset="0"/>
                <a:sym typeface="+mn-ea"/>
              </a:rPr>
              <a:t>  {</a:t>
            </a:r>
            <a:r>
              <a:rPr lang="en-US" dirty="0" err="1">
                <a:effectLst/>
                <a:latin typeface="Times New Roman" panose="02020603050405020304" charset="0"/>
                <a:cs typeface="Times New Roman" panose="02020603050405020304" charset="0"/>
                <a:sym typeface="+mn-ea"/>
              </a:rPr>
              <a:t>closehand</a:t>
            </a:r>
            <a:r>
              <a:rPr lang="en-US" dirty="0">
                <a:effectLst/>
                <a:latin typeface="Times New Roman" panose="02020603050405020304" charset="0"/>
                <a:cs typeface="Times New Roman" panose="02020603050405020304" charset="0"/>
                <a:sym typeface="+mn-ea"/>
              </a:rPr>
              <a:t>();}</a:t>
            </a:r>
            <a:endParaRPr lang="en-US" b="0" i="0" dirty="0">
              <a:effectLst/>
              <a:latin typeface="Times New Roman" panose="02020603050405020304" charset="0"/>
              <a:cs typeface="Times New Roman" panose="02020603050405020304" charset="0"/>
            </a:endParaRPr>
          </a:p>
          <a:p>
            <a:pPr algn="l" rtl="0" fontAlgn="base">
              <a:lnSpc>
                <a:spcPct val="170000"/>
              </a:lnSpc>
            </a:pPr>
            <a:r>
              <a:rPr lang="en-US" dirty="0">
                <a:effectLst/>
                <a:latin typeface="Times New Roman" panose="02020603050405020304" charset="0"/>
                <a:cs typeface="Times New Roman" panose="02020603050405020304" charset="0"/>
                <a:sym typeface="+mn-ea"/>
              </a:rPr>
              <a:t>  else //Otherwise the hand is open</a:t>
            </a:r>
            <a:endParaRPr lang="en-US" b="0" i="0" dirty="0">
              <a:effectLst/>
              <a:latin typeface="Times New Roman" panose="02020603050405020304" charset="0"/>
              <a:cs typeface="Times New Roman" panose="02020603050405020304" charset="0"/>
            </a:endParaRPr>
          </a:p>
          <a:p>
            <a:pPr algn="l" rtl="0" fontAlgn="base">
              <a:lnSpc>
                <a:spcPct val="170000"/>
              </a:lnSpc>
            </a:pPr>
            <a:r>
              <a:rPr lang="en-US" dirty="0">
                <a:effectLst/>
                <a:latin typeface="Times New Roman" panose="02020603050405020304" charset="0"/>
                <a:cs typeface="Times New Roman" panose="02020603050405020304" charset="0"/>
                <a:sym typeface="+mn-ea"/>
              </a:rPr>
              <a:t>  {openhand();}</a:t>
            </a:r>
            <a:endParaRPr lang="en-US" b="0" i="0" dirty="0">
              <a:effectLst/>
              <a:latin typeface="Times New Roman" panose="02020603050405020304" charset="0"/>
              <a:cs typeface="Times New Roman" panose="02020603050405020304" charset="0"/>
            </a:endParaRPr>
          </a:p>
          <a:p>
            <a:pPr algn="l" rtl="0" fontAlgn="base">
              <a:lnSpc>
                <a:spcPct val="170000"/>
              </a:lnSpc>
            </a:pPr>
            <a:r>
              <a:rPr lang="en-US" dirty="0">
                <a:effectLst/>
                <a:latin typeface="Times New Roman" panose="02020603050405020304" charset="0"/>
                <a:cs typeface="Times New Roman" panose="02020603050405020304" charset="0"/>
                <a:sym typeface="+mn-ea"/>
              </a:rPr>
              <a:t>  </a:t>
            </a:r>
            <a:r>
              <a:rPr lang="en-US" dirty="0" err="1">
                <a:effectLst/>
                <a:latin typeface="Times New Roman" panose="02020603050405020304" charset="0"/>
                <a:cs typeface="Times New Roman" panose="02020603050405020304" charset="0"/>
                <a:sym typeface="+mn-ea"/>
              </a:rPr>
              <a:t>Serial.println</a:t>
            </a:r>
            <a:r>
              <a:rPr lang="en-US" dirty="0">
                <a:effectLst/>
                <a:latin typeface="Times New Roman" panose="02020603050405020304" charset="0"/>
                <a:cs typeface="Times New Roman" panose="02020603050405020304" charset="0"/>
                <a:sym typeface="+mn-ea"/>
              </a:rPr>
              <a:t>(value); //You can use serial monitor to set THRESHOLD properly, comparing the values shown when you open and close your hand</a:t>
            </a:r>
            <a:endParaRPr lang="en-US" b="0" i="0" dirty="0">
              <a:effectLst/>
              <a:latin typeface="Times New Roman" panose="02020603050405020304" charset="0"/>
              <a:cs typeface="Times New Roman" panose="02020603050405020304" charset="0"/>
            </a:endParaRPr>
          </a:p>
          <a:p>
            <a:pPr algn="l" fontAlgn="base">
              <a:lnSpc>
                <a:spcPct val="170000"/>
              </a:lnSpc>
            </a:pPr>
            <a:r>
              <a:rPr lang="en-US" dirty="0">
                <a:effectLst/>
                <a:latin typeface="Times New Roman" panose="02020603050405020304" charset="0"/>
                <a:cs typeface="Times New Roman" panose="02020603050405020304" charset="0"/>
                <a:sym typeface="+mn-ea"/>
              </a:rPr>
              <a:t>}</a:t>
            </a:r>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375828" y="3033623"/>
            <a:ext cx="3893388"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US" sz="3200" b="1" dirty="0">
                <a:latin typeface="Times New Roman" panose="02020603050405020304"/>
                <a:cs typeface="Times New Roman" panose="02020603050405020304"/>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4</TotalTime>
  <Words>1620</Words>
  <Application>Microsoft Office PowerPoint</Application>
  <PresentationFormat>Widescreen</PresentationFormat>
  <Paragraphs>131</Paragraphs>
  <Slides>19</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19</vt:i4>
      </vt:variant>
    </vt:vector>
  </HeadingPairs>
  <TitlesOfParts>
    <vt:vector size="26" baseType="lpstr">
      <vt:lpstr>Aptos</vt:lpstr>
      <vt:lpstr>Aptos Display</vt:lpstr>
      <vt:lpstr>Arial</vt:lpstr>
      <vt:lpstr>Calibri</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PENUBOTHU VISHNUSAI</cp:lastModifiedBy>
  <cp:revision>986</cp:revision>
  <dcterms:created xsi:type="dcterms:W3CDTF">2024-03-14T15:48:00Z</dcterms:created>
  <dcterms:modified xsi:type="dcterms:W3CDTF">2026-03-30T06:11:02Z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8E2D1BBAE3AD492096411F81AB4EBA46</vt:lpwstr>
  </property>
  <property fmtid="{D5CDD505-2E9C-101B-9397-08002B2CF9AE}" pid="3" name="KSOProductBuildVer">
    <vt:lpwstr>1033-11.2.0.11225</vt:lpwstr>
  </property>
</Properties>
</file>